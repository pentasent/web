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67" d="100"/>
          <a:sy n="67" d="100"/>
        </p:scale>
        <p:origin x="620" y="1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7910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Pentasent is not another single-purpose healthcare app. It is being built as the connected layer around the healthcare ecosystem—where discovery, participation, organizations, products and innovation can live together. The round is sized to give the company ~24 months to prove distribution, retention and monetization.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Investor framing: avoid claiming that existing players are bad. The point is category fragmentation. Pentasent's opportunity is to connect workflows and identities that currently live in separate products.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problem is not that healthcare lacks information or services. It is that identity, discovery, participation and innovation are fragmented across separate destinations. Pentasent creates a common layer where these entities can connect.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core product slide. Pentasent is not four products; these are four entry points into the same ecosystem. This architecture lets the company serve consumers, professionals and organizations while building shared network value.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breadth is intentional, but the product should not be presented as a feature checklist. The strategic asset is the graph connecting these entities—people to organizations, organizations to products, products to research, communities to events, and so 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explains why breadth can be coherent. Each user type enters through a different job-to-be-done, but the journeys cross the same underlying network.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show that the timing is supported by infrastructure and market growth, not hype. ABDM figures are from a Government of India answer dated 22 March 2026. Grand View Research estimates India's digital health market at $17.81B in 2025. Sources should remain visible in the final deck.</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present every future monetization stream as current revenue. The near-term model is intentionally focused: sell visibility, tools and workflow value to organizations and professionals, while sponsored discovery can monetize ecosystem demand later.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GTM logic. Avoid claiming a completed acquisition engine. The fundraising objective is to build and measure this loop, starting with supply-side density where professional and organizational profiles have intrinsic value.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positioning, not a claim that Pentasent is objectively superior to named competitors. Existing categories solve important jobs. Pentasent's thesis is that the ecosystem around those jobs remains fragmented.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Investors should understand why this can become more than a directory. The compounding asset is the structured relationship graph and activity around healthcare entities. Verification and privacy/compliance will be important as the platform scales.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roadmap is deliberately evidence-driven. The round is not to build endlessly; it is to establish density, repeat usage, initial monetization and repeatable acquisition before the next financing step.</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prior fundraising framework targeted €750k, approximately 10–12% dilution and ~24 months runway. Do not state a fixed valuation as a hard market fact. The suggested approach is to negotiate around founder-friendly dilution and let valuation be supported by the evidence generated in this round. If asked for a reference range, prior planning examples were roughly €5.5M pre-money at €750k/12% and ~€6.0M+ pre-money at lower dilution, but these are negotiation anchors, not a claim of market value.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if the investor asks what the capital specifically changes. It connects spending to proof points and keeps the company from looking like it is simply hiring ahead of evidence.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Founder slide: keep it factual. Do not oversell credentials. The relevant founder-market fit is product capability plus hands-on healthcare product building. Add cofounders or advisors only if they are formal and confirmed.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the investment thesis: the round is about proving the flywheel. The investor should leave understanding the product, the problem, why now, how money is made, and exactly what the round is intended to prove.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4A0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Arc 2"/>
          <p:cNvSpPr/>
          <p:nvPr/>
        </p:nvSpPr>
        <p:spPr>
          <a:xfrm>
            <a:off x="7498079" y="-822960"/>
            <a:ext cx="5486400" cy="5486400"/>
          </a:xfrm>
          <a:prstGeom prst="arc">
            <a:avLst/>
          </a:prstGeom>
          <a:noFill/>
          <a:ln w="13970">
            <a:solidFill>
              <a:srgbClr val="763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Arc 3"/>
          <p:cNvSpPr/>
          <p:nvPr/>
        </p:nvSpPr>
        <p:spPr>
          <a:xfrm>
            <a:off x="7178040" y="-640080"/>
            <a:ext cx="5486400" cy="5486400"/>
          </a:xfrm>
          <a:prstGeom prst="arc">
            <a:avLst/>
          </a:prstGeom>
          <a:noFill/>
          <a:ln w="13970">
            <a:solidFill>
              <a:srgbClr val="763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Arc 4"/>
          <p:cNvSpPr/>
          <p:nvPr/>
        </p:nvSpPr>
        <p:spPr>
          <a:xfrm>
            <a:off x="6857999" y="-457200"/>
            <a:ext cx="5486400" cy="5486400"/>
          </a:xfrm>
          <a:prstGeom prst="arc">
            <a:avLst/>
          </a:prstGeom>
          <a:noFill/>
          <a:ln w="13970">
            <a:solidFill>
              <a:srgbClr val="763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Arc 5"/>
          <p:cNvSpPr/>
          <p:nvPr/>
        </p:nvSpPr>
        <p:spPr>
          <a:xfrm>
            <a:off x="6537959" y="-274319"/>
            <a:ext cx="5486400" cy="5486400"/>
          </a:xfrm>
          <a:prstGeom prst="arc">
            <a:avLst/>
          </a:prstGeom>
          <a:noFill/>
          <a:ln w="13970">
            <a:solidFill>
              <a:srgbClr val="763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Arc 6"/>
          <p:cNvSpPr/>
          <p:nvPr/>
        </p:nvSpPr>
        <p:spPr>
          <a:xfrm>
            <a:off x="6217919" y="-91439"/>
            <a:ext cx="5486400" cy="5486400"/>
          </a:xfrm>
          <a:prstGeom prst="arc">
            <a:avLst/>
          </a:prstGeom>
          <a:noFill/>
          <a:ln w="13970">
            <a:solidFill>
              <a:srgbClr val="763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502920"/>
            <a:ext cx="2011680" cy="411480"/>
          </a:xfrm>
          <a:prstGeom prst="rect">
            <a:avLst/>
          </a:prstGeom>
          <a:noFill/>
        </p:spPr>
        <p:txBody>
          <a:bodyPr wrap="square" lIns="18288" tIns="18288" rIns="18288" bIns="18288" anchor="t">
            <a:spAutoFit/>
          </a:bodyPr>
          <a:lstStyle/>
          <a:p>
            <a:pPr algn="l"/>
            <a:r>
              <a:rPr sz="2200" b="1">
                <a:solidFill>
                  <a:srgbClr val="FFFFFF"/>
                </a:solidFill>
                <a:latin typeface="Aptos"/>
              </a:rPr>
              <a:t>Pentasent</a:t>
            </a:r>
          </a:p>
        </p:txBody>
      </p:sp>
      <p:sp>
        <p:nvSpPr>
          <p:cNvPr id="9" name="Oval 8"/>
          <p:cNvSpPr/>
          <p:nvPr/>
        </p:nvSpPr>
        <p:spPr>
          <a:xfrm>
            <a:off x="292607" y="539496"/>
            <a:ext cx="246888" cy="2468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594360"/>
            <a:ext cx="100584" cy="100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58368" y="1353312"/>
            <a:ext cx="2057400" cy="310896"/>
          </a:xfrm>
          <a:prstGeom prst="roundRect">
            <a:avLst/>
          </a:prstGeom>
          <a:solidFill>
            <a:srgbClr val="692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1371600"/>
            <a:ext cx="2057400" cy="256032"/>
          </a:xfrm>
          <a:prstGeom prst="rect">
            <a:avLst/>
          </a:prstGeom>
          <a:noFill/>
        </p:spPr>
        <p:txBody>
          <a:bodyPr wrap="square" lIns="18288" tIns="18288" rIns="18288" bIns="18288" anchor="ctr">
            <a:spAutoFit/>
          </a:bodyPr>
          <a:lstStyle/>
          <a:p>
            <a:pPr algn="ctr"/>
            <a:r>
              <a:rPr sz="1000" b="1">
                <a:solidFill>
                  <a:srgbClr val="FFFFFF"/>
                </a:solidFill>
                <a:latin typeface="Aptos"/>
              </a:rPr>
              <a:t>PRE-SEED • INVESTOR DECK</a:t>
            </a:r>
          </a:p>
        </p:txBody>
      </p:sp>
      <p:sp>
        <p:nvSpPr>
          <p:cNvPr id="13" name="TextBox 12"/>
          <p:cNvSpPr txBox="1"/>
          <p:nvPr/>
        </p:nvSpPr>
        <p:spPr>
          <a:xfrm>
            <a:off x="658368" y="1874519"/>
            <a:ext cx="7589520" cy="1417320"/>
          </a:xfrm>
          <a:prstGeom prst="rect">
            <a:avLst/>
          </a:prstGeom>
          <a:noFill/>
        </p:spPr>
        <p:txBody>
          <a:bodyPr wrap="square" lIns="18288" tIns="18288" rIns="18288" bIns="18288" anchor="t">
            <a:spAutoFit/>
          </a:bodyPr>
          <a:lstStyle/>
          <a:p>
            <a:pPr algn="l"/>
            <a:r>
              <a:rPr sz="3400" b="1">
                <a:solidFill>
                  <a:srgbClr val="FFFFFF"/>
                </a:solidFill>
                <a:latin typeface="Aptos"/>
              </a:rPr>
              <a:t>Building the operating layer
for connected healthcare.</a:t>
            </a:r>
          </a:p>
        </p:txBody>
      </p:sp>
      <p:sp>
        <p:nvSpPr>
          <p:cNvPr id="14" name="TextBox 13"/>
          <p:cNvSpPr txBox="1"/>
          <p:nvPr/>
        </p:nvSpPr>
        <p:spPr>
          <a:xfrm>
            <a:off x="685800" y="3493008"/>
            <a:ext cx="7040880" cy="529376"/>
          </a:xfrm>
          <a:prstGeom prst="rect">
            <a:avLst/>
          </a:prstGeom>
          <a:noFill/>
        </p:spPr>
        <p:txBody>
          <a:bodyPr wrap="square" lIns="18288" tIns="18288" rIns="18288" bIns="18288" anchor="t">
            <a:spAutoFit/>
          </a:bodyPr>
          <a:lstStyle/>
          <a:p>
            <a:pPr algn="l"/>
            <a:r>
              <a:rPr sz="1600" b="0" dirty="0" err="1">
                <a:solidFill>
                  <a:srgbClr val="EEE2EC"/>
                </a:solidFill>
                <a:latin typeface="Aptos"/>
              </a:rPr>
              <a:t>Pentasent</a:t>
            </a:r>
            <a:r>
              <a:rPr sz="1600" b="0" dirty="0">
                <a:solidFill>
                  <a:srgbClr val="EEE2EC"/>
                </a:solidFill>
                <a:latin typeface="Aptos"/>
              </a:rPr>
              <a:t> brings people, healthcare organizations, products, communities, events, jobs, and news into one healthcare ecosystem.</a:t>
            </a:r>
          </a:p>
        </p:txBody>
      </p:sp>
      <p:sp>
        <p:nvSpPr>
          <p:cNvPr id="15" name="TextBox 14"/>
          <p:cNvSpPr txBox="1"/>
          <p:nvPr/>
        </p:nvSpPr>
        <p:spPr>
          <a:xfrm>
            <a:off x="685800" y="5074920"/>
            <a:ext cx="7315200" cy="320040"/>
          </a:xfrm>
          <a:prstGeom prst="rect">
            <a:avLst/>
          </a:prstGeom>
          <a:noFill/>
        </p:spPr>
        <p:txBody>
          <a:bodyPr wrap="square" lIns="18288" tIns="18288" rIns="18288" bIns="18288" anchor="t">
            <a:spAutoFit/>
          </a:bodyPr>
          <a:lstStyle/>
          <a:p>
            <a:pPr algn="l"/>
            <a:r>
              <a:rPr sz="1250" b="1">
                <a:solidFill>
                  <a:srgbClr val="FFFFFF"/>
                </a:solidFill>
                <a:latin typeface="Aptos"/>
              </a:rPr>
              <a:t>Fundraise: €750k  •  Target dilution: ~10–12%  •  Runway: ~24 months</a:t>
            </a:r>
          </a:p>
        </p:txBody>
      </p:sp>
      <p:sp>
        <p:nvSpPr>
          <p:cNvPr id="16" name="TextBox 15"/>
          <p:cNvSpPr txBox="1"/>
          <p:nvPr/>
        </p:nvSpPr>
        <p:spPr>
          <a:xfrm>
            <a:off x="685800" y="5806440"/>
            <a:ext cx="1828800" cy="228600"/>
          </a:xfrm>
          <a:prstGeom prst="rect">
            <a:avLst/>
          </a:prstGeom>
          <a:noFill/>
        </p:spPr>
        <p:txBody>
          <a:bodyPr wrap="square" lIns="18288" tIns="18288" rIns="18288" bIns="18288" anchor="t">
            <a:spAutoFit/>
          </a:bodyPr>
          <a:lstStyle/>
          <a:p>
            <a:pPr algn="l"/>
            <a:r>
              <a:rPr sz="1000" b="0">
                <a:solidFill>
                  <a:srgbClr val="D8C5D4"/>
                </a:solidFill>
                <a:latin typeface="Aptos"/>
              </a:rPr>
              <a:t>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4023360" cy="256032"/>
          </a:xfrm>
          <a:prstGeom prst="rect">
            <a:avLst/>
          </a:prstGeom>
          <a:noFill/>
        </p:spPr>
        <p:txBody>
          <a:bodyPr wrap="square" lIns="18288" tIns="18288" rIns="18288" bIns="18288" anchor="t">
            <a:spAutoFit/>
          </a:bodyPr>
          <a:lstStyle/>
          <a:p>
            <a:pPr algn="l"/>
            <a:r>
              <a:rPr sz="1000" b="1">
                <a:solidFill>
                  <a:srgbClr val="686069"/>
                </a:solidFill>
                <a:latin typeface="Aptos"/>
              </a:rPr>
              <a:t>02  /  THESIS</a:t>
            </a:r>
          </a:p>
        </p:txBody>
      </p:sp>
      <p:sp>
        <p:nvSpPr>
          <p:cNvPr id="4" name="TextBox 3"/>
          <p:cNvSpPr txBox="1"/>
          <p:nvPr/>
        </p:nvSpPr>
        <p:spPr>
          <a:xfrm>
            <a:off x="594360" y="713232"/>
            <a:ext cx="10972800" cy="621792"/>
          </a:xfrm>
          <a:prstGeom prst="rect">
            <a:avLst/>
          </a:prstGeom>
          <a:noFill/>
        </p:spPr>
        <p:txBody>
          <a:bodyPr wrap="square" lIns="18288" tIns="18288" rIns="18288" bIns="18288" anchor="t">
            <a:spAutoFit/>
          </a:bodyPr>
          <a:lstStyle/>
          <a:p>
            <a:pPr algn="l"/>
            <a:r>
              <a:rPr sz="2800" b="1">
                <a:solidFill>
                  <a:srgbClr val="1F1B23"/>
                </a:solidFill>
                <a:latin typeface="Aptos"/>
              </a:rPr>
              <a:t>Healthcare has products. It lacks a connected ecosystem.</a:t>
            </a:r>
          </a:p>
        </p:txBody>
      </p:sp>
      <p:sp>
        <p:nvSpPr>
          <p:cNvPr id="5" name="TextBox 4"/>
          <p:cNvSpPr txBox="1"/>
          <p:nvPr/>
        </p:nvSpPr>
        <p:spPr>
          <a:xfrm>
            <a:off x="612648" y="1353312"/>
            <a:ext cx="10789920" cy="438912"/>
          </a:xfrm>
          <a:prstGeom prst="rect">
            <a:avLst/>
          </a:prstGeom>
          <a:noFill/>
        </p:spPr>
        <p:txBody>
          <a:bodyPr wrap="square" lIns="18288" tIns="18288" rIns="18288" bIns="18288" anchor="t">
            <a:spAutoFit/>
          </a:bodyPr>
          <a:lstStyle/>
          <a:p>
            <a:pPr algn="l"/>
            <a:r>
              <a:rPr sz="1350" b="0">
                <a:solidFill>
                  <a:srgbClr val="686069"/>
                </a:solidFill>
                <a:latin typeface="Aptos"/>
              </a:rPr>
              <a:t>Patients, professionals and organizations still move between disconnected destinations to discover, participate, build and innovate.</a:t>
            </a:r>
          </a:p>
        </p:txBody>
      </p:sp>
      <p:sp>
        <p:nvSpPr>
          <p:cNvPr id="6" name="Rounded Rectangle 5"/>
          <p:cNvSpPr/>
          <p:nvPr/>
        </p:nvSpPr>
        <p:spPr>
          <a:xfrm>
            <a:off x="640080" y="1965960"/>
            <a:ext cx="4663440" cy="3520440"/>
          </a:xfrm>
          <a:prstGeom prst="roundRect">
            <a:avLst/>
          </a:prstGeom>
          <a:solidFill>
            <a:srgbClr val="4A0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331720"/>
            <a:ext cx="1097280" cy="274320"/>
          </a:xfrm>
          <a:prstGeom prst="rect">
            <a:avLst/>
          </a:prstGeom>
          <a:noFill/>
        </p:spPr>
        <p:txBody>
          <a:bodyPr wrap="square" lIns="18288" tIns="18288" rIns="18288" bIns="18288" anchor="t">
            <a:spAutoFit/>
          </a:bodyPr>
          <a:lstStyle/>
          <a:p>
            <a:pPr algn="l"/>
            <a:r>
              <a:rPr sz="1000" b="1">
                <a:solidFill>
                  <a:srgbClr val="EFD5E6"/>
                </a:solidFill>
                <a:latin typeface="Aptos"/>
              </a:rPr>
              <a:t>THE GAP</a:t>
            </a:r>
          </a:p>
        </p:txBody>
      </p:sp>
      <p:sp>
        <p:nvSpPr>
          <p:cNvPr id="8" name="TextBox 7"/>
          <p:cNvSpPr txBox="1"/>
          <p:nvPr/>
        </p:nvSpPr>
        <p:spPr>
          <a:xfrm>
            <a:off x="960120" y="2743200"/>
            <a:ext cx="3749039" cy="777240"/>
          </a:xfrm>
          <a:prstGeom prst="rect">
            <a:avLst/>
          </a:prstGeom>
          <a:noFill/>
        </p:spPr>
        <p:txBody>
          <a:bodyPr wrap="square" lIns="18288" tIns="18288" rIns="18288" bIns="18288" anchor="t">
            <a:spAutoFit/>
          </a:bodyPr>
          <a:lstStyle/>
          <a:p>
            <a:pPr algn="l"/>
            <a:r>
              <a:rPr sz="2400" b="1">
                <a:solidFill>
                  <a:srgbClr val="FFFFFF"/>
                </a:solidFill>
                <a:latin typeface="Aptos"/>
              </a:rPr>
              <a:t>The healthcare internet is fragmented by workflow.</a:t>
            </a:r>
          </a:p>
        </p:txBody>
      </p:sp>
      <p:sp>
        <p:nvSpPr>
          <p:cNvPr id="9" name="TextBox 8"/>
          <p:cNvSpPr txBox="1"/>
          <p:nvPr/>
        </p:nvSpPr>
        <p:spPr>
          <a:xfrm>
            <a:off x="960120" y="3657600"/>
            <a:ext cx="3840480" cy="1234440"/>
          </a:xfrm>
          <a:prstGeom prst="rect">
            <a:avLst/>
          </a:prstGeom>
          <a:noFill/>
        </p:spPr>
        <p:txBody>
          <a:bodyPr wrap="square" lIns="18288" tIns="18288" rIns="18288" bIns="18288" anchor="t">
            <a:spAutoFit/>
          </a:bodyPr>
          <a:lstStyle/>
          <a:p>
            <a:pPr algn="l"/>
            <a:r>
              <a:rPr sz="1500" b="0">
                <a:solidFill>
                  <a:srgbClr val="EEE2EC"/>
                </a:solidFill>
                <a:latin typeface="Aptos"/>
              </a:rPr>
              <a:t>Care happens in one place.
Communities in another.
Products somewhere else.
Research, jobs and events elsewhere.</a:t>
            </a:r>
          </a:p>
        </p:txBody>
      </p:sp>
      <p:sp>
        <p:nvSpPr>
          <p:cNvPr id="10" name="Oval 9"/>
          <p:cNvSpPr/>
          <p:nvPr/>
        </p:nvSpPr>
        <p:spPr>
          <a:xfrm>
            <a:off x="5715000" y="2066544"/>
            <a:ext cx="228600" cy="228600"/>
          </a:xfrm>
          <a:prstGeom prst="ellipse">
            <a:avLst/>
          </a:prstGeom>
          <a:solidFill>
            <a:srgbClr val="594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26480" y="1993392"/>
            <a:ext cx="1371600" cy="274320"/>
          </a:xfrm>
          <a:prstGeom prst="rect">
            <a:avLst/>
          </a:prstGeom>
          <a:noFill/>
        </p:spPr>
        <p:txBody>
          <a:bodyPr wrap="square" lIns="18288" tIns="18288" rIns="18288" bIns="18288" anchor="t">
            <a:spAutoFit/>
          </a:bodyPr>
          <a:lstStyle/>
          <a:p>
            <a:pPr algn="l"/>
            <a:r>
              <a:rPr sz="1400" b="1">
                <a:solidFill>
                  <a:srgbClr val="1F1B23"/>
                </a:solidFill>
                <a:latin typeface="Aptos"/>
              </a:rPr>
              <a:t>Discover</a:t>
            </a:r>
          </a:p>
        </p:txBody>
      </p:sp>
      <p:sp>
        <p:nvSpPr>
          <p:cNvPr id="12" name="TextBox 11"/>
          <p:cNvSpPr txBox="1"/>
          <p:nvPr/>
        </p:nvSpPr>
        <p:spPr>
          <a:xfrm>
            <a:off x="7360920" y="1993392"/>
            <a:ext cx="3977639" cy="365760"/>
          </a:xfrm>
          <a:prstGeom prst="rect">
            <a:avLst/>
          </a:prstGeom>
          <a:noFill/>
        </p:spPr>
        <p:txBody>
          <a:bodyPr wrap="square" lIns="18288" tIns="18288" rIns="18288" bIns="18288" anchor="t">
            <a:spAutoFit/>
          </a:bodyPr>
          <a:lstStyle/>
          <a:p>
            <a:pPr algn="l"/>
            <a:r>
              <a:rPr sz="1200" b="0">
                <a:solidFill>
                  <a:srgbClr val="686069"/>
                </a:solidFill>
                <a:latin typeface="Aptos"/>
              </a:rPr>
              <a:t>People, providers, organizations, products</a:t>
            </a:r>
          </a:p>
        </p:txBody>
      </p:sp>
      <p:sp>
        <p:nvSpPr>
          <p:cNvPr id="13" name="Oval 12"/>
          <p:cNvSpPr/>
          <p:nvPr/>
        </p:nvSpPr>
        <p:spPr>
          <a:xfrm>
            <a:off x="5715000" y="2907792"/>
            <a:ext cx="228600" cy="228600"/>
          </a:xfrm>
          <a:prstGeom prst="ellipse">
            <a:avLst/>
          </a:prstGeom>
          <a:solidFill>
            <a:srgbClr val="594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2834640"/>
            <a:ext cx="1371600" cy="274320"/>
          </a:xfrm>
          <a:prstGeom prst="rect">
            <a:avLst/>
          </a:prstGeom>
          <a:noFill/>
        </p:spPr>
        <p:txBody>
          <a:bodyPr wrap="square" lIns="18288" tIns="18288" rIns="18288" bIns="18288" anchor="t">
            <a:spAutoFit/>
          </a:bodyPr>
          <a:lstStyle/>
          <a:p>
            <a:pPr algn="l"/>
            <a:r>
              <a:rPr sz="1400" b="1">
                <a:solidFill>
                  <a:srgbClr val="1F1B23"/>
                </a:solidFill>
                <a:latin typeface="Aptos"/>
              </a:rPr>
              <a:t>Participate</a:t>
            </a:r>
          </a:p>
        </p:txBody>
      </p:sp>
      <p:sp>
        <p:nvSpPr>
          <p:cNvPr id="15" name="TextBox 14"/>
          <p:cNvSpPr txBox="1"/>
          <p:nvPr/>
        </p:nvSpPr>
        <p:spPr>
          <a:xfrm>
            <a:off x="7360920" y="2834640"/>
            <a:ext cx="3977639" cy="365760"/>
          </a:xfrm>
          <a:prstGeom prst="rect">
            <a:avLst/>
          </a:prstGeom>
          <a:noFill/>
        </p:spPr>
        <p:txBody>
          <a:bodyPr wrap="square" lIns="18288" tIns="18288" rIns="18288" bIns="18288" anchor="t">
            <a:spAutoFit/>
          </a:bodyPr>
          <a:lstStyle/>
          <a:p>
            <a:pPr algn="l"/>
            <a:r>
              <a:rPr sz="1200" b="0">
                <a:solidFill>
                  <a:srgbClr val="686069"/>
                </a:solidFill>
                <a:latin typeface="Aptos"/>
              </a:rPr>
              <a:t>Communities, events, challenges</a:t>
            </a:r>
          </a:p>
        </p:txBody>
      </p:sp>
      <p:sp>
        <p:nvSpPr>
          <p:cNvPr id="16" name="Oval 15"/>
          <p:cNvSpPr/>
          <p:nvPr/>
        </p:nvSpPr>
        <p:spPr>
          <a:xfrm>
            <a:off x="5715000" y="3749040"/>
            <a:ext cx="228600" cy="228600"/>
          </a:xfrm>
          <a:prstGeom prst="ellipse">
            <a:avLst/>
          </a:prstGeom>
          <a:solidFill>
            <a:srgbClr val="594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26480" y="3675888"/>
            <a:ext cx="1371600" cy="274320"/>
          </a:xfrm>
          <a:prstGeom prst="rect">
            <a:avLst/>
          </a:prstGeom>
          <a:noFill/>
        </p:spPr>
        <p:txBody>
          <a:bodyPr wrap="square" lIns="18288" tIns="18288" rIns="18288" bIns="18288" anchor="t">
            <a:spAutoFit/>
          </a:bodyPr>
          <a:lstStyle/>
          <a:p>
            <a:pPr algn="l"/>
            <a:r>
              <a:rPr sz="1400" b="1">
                <a:solidFill>
                  <a:srgbClr val="1F1B23"/>
                </a:solidFill>
                <a:latin typeface="Aptos"/>
              </a:rPr>
              <a:t>Build</a:t>
            </a:r>
          </a:p>
        </p:txBody>
      </p:sp>
      <p:sp>
        <p:nvSpPr>
          <p:cNvPr id="18" name="TextBox 17"/>
          <p:cNvSpPr txBox="1"/>
          <p:nvPr/>
        </p:nvSpPr>
        <p:spPr>
          <a:xfrm>
            <a:off x="7360920" y="3675888"/>
            <a:ext cx="3977639" cy="365760"/>
          </a:xfrm>
          <a:prstGeom prst="rect">
            <a:avLst/>
          </a:prstGeom>
          <a:noFill/>
        </p:spPr>
        <p:txBody>
          <a:bodyPr wrap="square" lIns="18288" tIns="18288" rIns="18288" bIns="18288" anchor="t">
            <a:spAutoFit/>
          </a:bodyPr>
          <a:lstStyle/>
          <a:p>
            <a:pPr algn="l"/>
            <a:r>
              <a:rPr sz="1200" b="0">
                <a:solidFill>
                  <a:srgbClr val="686069"/>
                </a:solidFill>
                <a:latin typeface="Aptos"/>
              </a:rPr>
              <a:t>Jobs, organizations, professional identity</a:t>
            </a:r>
          </a:p>
        </p:txBody>
      </p:sp>
      <p:sp>
        <p:nvSpPr>
          <p:cNvPr id="19" name="Oval 18"/>
          <p:cNvSpPr/>
          <p:nvPr/>
        </p:nvSpPr>
        <p:spPr>
          <a:xfrm>
            <a:off x="5715000" y="4590288"/>
            <a:ext cx="228600" cy="228600"/>
          </a:xfrm>
          <a:prstGeom prst="ellipse">
            <a:avLst/>
          </a:prstGeom>
          <a:solidFill>
            <a:srgbClr val="594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26480" y="4517136"/>
            <a:ext cx="1371600" cy="274320"/>
          </a:xfrm>
          <a:prstGeom prst="rect">
            <a:avLst/>
          </a:prstGeom>
          <a:noFill/>
        </p:spPr>
        <p:txBody>
          <a:bodyPr wrap="square" lIns="18288" tIns="18288" rIns="18288" bIns="18288" anchor="t">
            <a:spAutoFit/>
          </a:bodyPr>
          <a:lstStyle/>
          <a:p>
            <a:pPr algn="l"/>
            <a:r>
              <a:rPr sz="1400" b="1">
                <a:solidFill>
                  <a:srgbClr val="1F1B23"/>
                </a:solidFill>
                <a:latin typeface="Aptos"/>
              </a:rPr>
              <a:t>Innovate</a:t>
            </a:r>
          </a:p>
        </p:txBody>
      </p:sp>
      <p:sp>
        <p:nvSpPr>
          <p:cNvPr id="21" name="TextBox 20"/>
          <p:cNvSpPr txBox="1"/>
          <p:nvPr/>
        </p:nvSpPr>
        <p:spPr>
          <a:xfrm>
            <a:off x="7360920" y="4517136"/>
            <a:ext cx="3977639" cy="365760"/>
          </a:xfrm>
          <a:prstGeom prst="rect">
            <a:avLst/>
          </a:prstGeom>
          <a:noFill/>
        </p:spPr>
        <p:txBody>
          <a:bodyPr wrap="square" lIns="18288" tIns="18288" rIns="18288" bIns="18288" anchor="t">
            <a:spAutoFit/>
          </a:bodyPr>
          <a:lstStyle/>
          <a:p>
            <a:pPr algn="l"/>
            <a:r>
              <a:rPr sz="1200" b="0">
                <a:solidFill>
                  <a:srgbClr val="686069"/>
                </a:solidFill>
                <a:latin typeface="Aptos"/>
              </a:rPr>
              <a:t>Research, news, products, collaboration</a:t>
            </a:r>
          </a:p>
        </p:txBody>
      </p:sp>
      <p:cxnSp>
        <p:nvCxnSpPr>
          <p:cNvPr id="22" name="Connector 21"/>
          <p:cNvCxnSpPr/>
          <p:nvPr/>
        </p:nvCxnSpPr>
        <p:spPr>
          <a:xfrm>
            <a:off x="594360" y="6473952"/>
            <a:ext cx="11000232" cy="0"/>
          </a:xfrm>
          <a:prstGeom prst="line">
            <a:avLst/>
          </a:prstGeom>
          <a:ln w="8890">
            <a:solidFill>
              <a:srgbClr val="E0DBD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94360" y="6519672"/>
            <a:ext cx="1280160" cy="164592"/>
          </a:xfrm>
          <a:prstGeom prst="rect">
            <a:avLst/>
          </a:prstGeom>
          <a:noFill/>
        </p:spPr>
        <p:txBody>
          <a:bodyPr wrap="square" lIns="18288" tIns="18288" rIns="18288" bIns="18288" anchor="t">
            <a:spAutoFit/>
          </a:bodyPr>
          <a:lstStyle/>
          <a:p>
            <a:pPr algn="l"/>
            <a:r>
              <a:rPr sz="850" b="1">
                <a:solidFill>
                  <a:srgbClr val="877F87"/>
                </a:solidFill>
                <a:latin typeface="Aptos"/>
              </a:rPr>
              <a:t>Pentasent</a:t>
            </a:r>
          </a:p>
        </p:txBody>
      </p:sp>
      <p:sp>
        <p:nvSpPr>
          <p:cNvPr id="24" name="TextBox 23"/>
          <p:cNvSpPr txBox="1"/>
          <p:nvPr/>
        </p:nvSpPr>
        <p:spPr>
          <a:xfrm>
            <a:off x="11064240" y="6519672"/>
            <a:ext cx="502920" cy="164592"/>
          </a:xfrm>
          <a:prstGeom prst="rect">
            <a:avLst/>
          </a:prstGeom>
          <a:noFill/>
        </p:spPr>
        <p:txBody>
          <a:bodyPr wrap="square" lIns="18288" tIns="18288" rIns="18288" bIns="18288" anchor="t">
            <a:spAutoFit/>
          </a:bodyPr>
          <a:lstStyle/>
          <a:p>
            <a:pPr algn="r"/>
            <a:r>
              <a:rPr sz="850" b="0">
                <a:solidFill>
                  <a:srgbClr val="877F87"/>
                </a:solidFill>
                <a:latin typeface="Apto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4023360" cy="256032"/>
          </a:xfrm>
          <a:prstGeom prst="rect">
            <a:avLst/>
          </a:prstGeom>
          <a:noFill/>
        </p:spPr>
        <p:txBody>
          <a:bodyPr wrap="square" lIns="18288" tIns="18288" rIns="18288" bIns="18288" anchor="t">
            <a:spAutoFit/>
          </a:bodyPr>
          <a:lstStyle/>
          <a:p>
            <a:pPr algn="l"/>
            <a:r>
              <a:rPr sz="1000" b="1">
                <a:solidFill>
                  <a:srgbClr val="686069"/>
                </a:solidFill>
                <a:latin typeface="Aptos"/>
              </a:rPr>
              <a:t>03  /  PROBLEM</a:t>
            </a:r>
          </a:p>
        </p:txBody>
      </p:sp>
      <p:sp>
        <p:nvSpPr>
          <p:cNvPr id="4" name="TextBox 3"/>
          <p:cNvSpPr txBox="1"/>
          <p:nvPr/>
        </p:nvSpPr>
        <p:spPr>
          <a:xfrm>
            <a:off x="594360" y="713232"/>
            <a:ext cx="10972800" cy="621792"/>
          </a:xfrm>
          <a:prstGeom prst="rect">
            <a:avLst/>
          </a:prstGeom>
          <a:noFill/>
        </p:spPr>
        <p:txBody>
          <a:bodyPr wrap="square" lIns="18288" tIns="18288" rIns="18288" bIns="18288" anchor="t">
            <a:spAutoFit/>
          </a:bodyPr>
          <a:lstStyle/>
          <a:p>
            <a:pPr algn="l"/>
            <a:r>
              <a:rPr sz="2800" b="1">
                <a:solidFill>
                  <a:srgbClr val="1F1B23"/>
                </a:solidFill>
                <a:latin typeface="Aptos"/>
              </a:rPr>
              <a:t>Every healthcare participant is forced to stitch together their own ecosystem.</a:t>
            </a:r>
          </a:p>
        </p:txBody>
      </p:sp>
      <p:sp>
        <p:nvSpPr>
          <p:cNvPr id="5" name="TextBox 4"/>
          <p:cNvSpPr txBox="1"/>
          <p:nvPr/>
        </p:nvSpPr>
        <p:spPr>
          <a:xfrm>
            <a:off x="594360" y="1554480"/>
            <a:ext cx="10789920" cy="438912"/>
          </a:xfrm>
          <a:prstGeom prst="rect">
            <a:avLst/>
          </a:prstGeom>
          <a:noFill/>
        </p:spPr>
        <p:txBody>
          <a:bodyPr wrap="square" lIns="18288" tIns="18288" rIns="18288" bIns="18288" anchor="t">
            <a:spAutoFit/>
          </a:bodyPr>
          <a:lstStyle/>
          <a:p>
            <a:pPr algn="l"/>
            <a:r>
              <a:rPr sz="1350" b="0" dirty="0">
                <a:solidFill>
                  <a:srgbClr val="686069"/>
                </a:solidFill>
                <a:latin typeface="Aptos"/>
              </a:rPr>
              <a:t>The fragmentation is structural—not just a missing feature.</a:t>
            </a:r>
          </a:p>
        </p:txBody>
      </p:sp>
      <p:sp>
        <p:nvSpPr>
          <p:cNvPr id="6" name="Oval 5"/>
          <p:cNvSpPr/>
          <p:nvPr/>
        </p:nvSpPr>
        <p:spPr>
          <a:xfrm>
            <a:off x="5257800" y="2423160"/>
            <a:ext cx="1417320" cy="1417320"/>
          </a:xfrm>
          <a:prstGeom prst="ellipse">
            <a:avLst/>
          </a:prstGeom>
          <a:solidFill>
            <a:srgbClr val="4A0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31536" y="2743200"/>
            <a:ext cx="1078992" cy="566928"/>
          </a:xfrm>
          <a:prstGeom prst="rect">
            <a:avLst/>
          </a:prstGeom>
          <a:noFill/>
        </p:spPr>
        <p:txBody>
          <a:bodyPr wrap="square" lIns="18288" tIns="18288" rIns="18288" bIns="18288" anchor="t">
            <a:spAutoFit/>
          </a:bodyPr>
          <a:lstStyle/>
          <a:p>
            <a:pPr algn="ctr"/>
            <a:r>
              <a:rPr sz="1300" b="1">
                <a:solidFill>
                  <a:srgbClr val="FFFFFF"/>
                </a:solidFill>
                <a:latin typeface="Aptos"/>
              </a:rPr>
              <a:t>HEALTH
ECOSYSTEM</a:t>
            </a:r>
          </a:p>
        </p:txBody>
      </p:sp>
      <p:sp>
        <p:nvSpPr>
          <p:cNvPr id="8" name="Rounded Rectangle 7"/>
          <p:cNvSpPr/>
          <p:nvPr/>
        </p:nvSpPr>
        <p:spPr>
          <a:xfrm>
            <a:off x="1828800" y="1828800"/>
            <a:ext cx="2148840" cy="82296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993392" y="1947672"/>
            <a:ext cx="1737360" cy="256032"/>
          </a:xfrm>
          <a:prstGeom prst="rect">
            <a:avLst/>
          </a:prstGeom>
          <a:noFill/>
        </p:spPr>
        <p:txBody>
          <a:bodyPr wrap="square" lIns="18288" tIns="18288" rIns="18288" bIns="18288" anchor="t">
            <a:spAutoFit/>
          </a:bodyPr>
          <a:lstStyle/>
          <a:p>
            <a:pPr algn="l"/>
            <a:r>
              <a:rPr sz="1300" b="1">
                <a:solidFill>
                  <a:srgbClr val="1F1B23"/>
                </a:solidFill>
                <a:latin typeface="Aptos"/>
              </a:rPr>
              <a:t>People</a:t>
            </a:r>
          </a:p>
        </p:txBody>
      </p:sp>
      <p:sp>
        <p:nvSpPr>
          <p:cNvPr id="10" name="TextBox 9"/>
          <p:cNvSpPr txBox="1"/>
          <p:nvPr/>
        </p:nvSpPr>
        <p:spPr>
          <a:xfrm>
            <a:off x="1993392" y="2240280"/>
            <a:ext cx="1828800" cy="256032"/>
          </a:xfrm>
          <a:prstGeom prst="rect">
            <a:avLst/>
          </a:prstGeom>
          <a:noFill/>
        </p:spPr>
        <p:txBody>
          <a:bodyPr wrap="square" lIns="18288" tIns="18288" rIns="18288" bIns="18288" anchor="t">
            <a:spAutoFit/>
          </a:bodyPr>
          <a:lstStyle/>
          <a:p>
            <a:pPr algn="l"/>
            <a:r>
              <a:rPr sz="850" b="0">
                <a:solidFill>
                  <a:srgbClr val="686069"/>
                </a:solidFill>
                <a:latin typeface="Aptos"/>
              </a:rPr>
              <a:t>Find expertise &amp; trusted profiles</a:t>
            </a:r>
          </a:p>
        </p:txBody>
      </p:sp>
      <p:cxnSp>
        <p:nvCxnSpPr>
          <p:cNvPr id="11" name="Connector 10"/>
          <p:cNvCxnSpPr>
            <a:cxnSpLocks/>
            <a:endCxn id="8" idx="3"/>
          </p:cNvCxnSpPr>
          <p:nvPr/>
        </p:nvCxnSpPr>
        <p:spPr>
          <a:xfrm flipH="1" flipV="1">
            <a:off x="3977640" y="2240280"/>
            <a:ext cx="1984248" cy="886968"/>
          </a:xfrm>
          <a:prstGeom prst="line">
            <a:avLst/>
          </a:prstGeom>
          <a:ln w="12700">
            <a:solidFill>
              <a:srgbClr val="CDC3CF"/>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828800" y="3977639"/>
            <a:ext cx="2148840" cy="82296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993392" y="4096511"/>
            <a:ext cx="1737360" cy="256032"/>
          </a:xfrm>
          <a:prstGeom prst="rect">
            <a:avLst/>
          </a:prstGeom>
          <a:noFill/>
        </p:spPr>
        <p:txBody>
          <a:bodyPr wrap="square" lIns="18288" tIns="18288" rIns="18288" bIns="18288" anchor="t">
            <a:spAutoFit/>
          </a:bodyPr>
          <a:lstStyle/>
          <a:p>
            <a:pPr algn="l"/>
            <a:r>
              <a:rPr sz="1300" b="1">
                <a:solidFill>
                  <a:srgbClr val="1F1B23"/>
                </a:solidFill>
                <a:latin typeface="Aptos"/>
              </a:rPr>
              <a:t>Organizations</a:t>
            </a:r>
          </a:p>
        </p:txBody>
      </p:sp>
      <p:sp>
        <p:nvSpPr>
          <p:cNvPr id="14" name="TextBox 13"/>
          <p:cNvSpPr txBox="1"/>
          <p:nvPr/>
        </p:nvSpPr>
        <p:spPr>
          <a:xfrm>
            <a:off x="1993392" y="4389120"/>
            <a:ext cx="1828800" cy="256032"/>
          </a:xfrm>
          <a:prstGeom prst="rect">
            <a:avLst/>
          </a:prstGeom>
          <a:noFill/>
        </p:spPr>
        <p:txBody>
          <a:bodyPr wrap="square" lIns="18288" tIns="18288" rIns="18288" bIns="18288" anchor="t">
            <a:spAutoFit/>
          </a:bodyPr>
          <a:lstStyle/>
          <a:p>
            <a:pPr algn="l"/>
            <a:r>
              <a:rPr sz="850" b="0">
                <a:solidFill>
                  <a:srgbClr val="686069"/>
                </a:solidFill>
                <a:latin typeface="Aptos"/>
              </a:rPr>
              <a:t>Find providers, partners &amp; talent</a:t>
            </a:r>
          </a:p>
        </p:txBody>
      </p:sp>
      <p:cxnSp>
        <p:nvCxnSpPr>
          <p:cNvPr id="15" name="Connector 14"/>
          <p:cNvCxnSpPr>
            <a:cxnSpLocks/>
            <a:endCxn id="12" idx="0"/>
          </p:cNvCxnSpPr>
          <p:nvPr/>
        </p:nvCxnSpPr>
        <p:spPr>
          <a:xfrm flipH="1">
            <a:off x="2903220" y="3127248"/>
            <a:ext cx="3058668" cy="850391"/>
          </a:xfrm>
          <a:prstGeom prst="line">
            <a:avLst/>
          </a:prstGeom>
          <a:ln w="12700">
            <a:solidFill>
              <a:srgbClr val="CDC3CF"/>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366760" y="1828800"/>
            <a:ext cx="2148840" cy="82296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31352" y="1947672"/>
            <a:ext cx="1737360" cy="256032"/>
          </a:xfrm>
          <a:prstGeom prst="rect">
            <a:avLst/>
          </a:prstGeom>
          <a:noFill/>
        </p:spPr>
        <p:txBody>
          <a:bodyPr wrap="square" lIns="18288" tIns="18288" rIns="18288" bIns="18288" anchor="t">
            <a:spAutoFit/>
          </a:bodyPr>
          <a:lstStyle/>
          <a:p>
            <a:pPr algn="l"/>
            <a:r>
              <a:rPr sz="1300" b="1">
                <a:solidFill>
                  <a:srgbClr val="1F1B23"/>
                </a:solidFill>
                <a:latin typeface="Aptos"/>
              </a:rPr>
              <a:t>Products</a:t>
            </a:r>
          </a:p>
        </p:txBody>
      </p:sp>
      <p:sp>
        <p:nvSpPr>
          <p:cNvPr id="18" name="TextBox 17"/>
          <p:cNvSpPr txBox="1"/>
          <p:nvPr/>
        </p:nvSpPr>
        <p:spPr>
          <a:xfrm>
            <a:off x="8531352" y="2240280"/>
            <a:ext cx="1828800" cy="256032"/>
          </a:xfrm>
          <a:prstGeom prst="rect">
            <a:avLst/>
          </a:prstGeom>
          <a:noFill/>
        </p:spPr>
        <p:txBody>
          <a:bodyPr wrap="square" lIns="18288" tIns="18288" rIns="18288" bIns="18288" anchor="t">
            <a:spAutoFit/>
          </a:bodyPr>
          <a:lstStyle/>
          <a:p>
            <a:pPr algn="l"/>
            <a:r>
              <a:rPr sz="850" b="0">
                <a:solidFill>
                  <a:srgbClr val="686069"/>
                </a:solidFill>
                <a:latin typeface="Aptos"/>
              </a:rPr>
              <a:t>Discover healthcare solutions</a:t>
            </a:r>
          </a:p>
        </p:txBody>
      </p:sp>
      <p:cxnSp>
        <p:nvCxnSpPr>
          <p:cNvPr id="19" name="Connector 18"/>
          <p:cNvCxnSpPr>
            <a:cxnSpLocks/>
            <a:endCxn id="16" idx="1"/>
          </p:cNvCxnSpPr>
          <p:nvPr/>
        </p:nvCxnSpPr>
        <p:spPr>
          <a:xfrm flipV="1">
            <a:off x="5961888" y="2240280"/>
            <a:ext cx="2404872" cy="886968"/>
          </a:xfrm>
          <a:prstGeom prst="line">
            <a:avLst/>
          </a:prstGeom>
          <a:ln w="12700">
            <a:solidFill>
              <a:srgbClr val="CDC3CF"/>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366760" y="3977639"/>
            <a:ext cx="2148840" cy="82296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31352" y="4096511"/>
            <a:ext cx="1737360" cy="256032"/>
          </a:xfrm>
          <a:prstGeom prst="rect">
            <a:avLst/>
          </a:prstGeom>
          <a:noFill/>
        </p:spPr>
        <p:txBody>
          <a:bodyPr wrap="square" lIns="18288" tIns="18288" rIns="18288" bIns="18288" anchor="t">
            <a:spAutoFit/>
          </a:bodyPr>
          <a:lstStyle/>
          <a:p>
            <a:pPr algn="l"/>
            <a:r>
              <a:rPr sz="1300" b="1">
                <a:solidFill>
                  <a:srgbClr val="1F1B23"/>
                </a:solidFill>
                <a:latin typeface="Aptos"/>
              </a:rPr>
              <a:t>Communities</a:t>
            </a:r>
          </a:p>
        </p:txBody>
      </p:sp>
      <p:sp>
        <p:nvSpPr>
          <p:cNvPr id="22" name="TextBox 21"/>
          <p:cNvSpPr txBox="1"/>
          <p:nvPr/>
        </p:nvSpPr>
        <p:spPr>
          <a:xfrm>
            <a:off x="8531352" y="4389120"/>
            <a:ext cx="1828800" cy="256032"/>
          </a:xfrm>
          <a:prstGeom prst="rect">
            <a:avLst/>
          </a:prstGeom>
          <a:noFill/>
        </p:spPr>
        <p:txBody>
          <a:bodyPr wrap="square" lIns="18288" tIns="18288" rIns="18288" bIns="18288" anchor="t">
            <a:spAutoFit/>
          </a:bodyPr>
          <a:lstStyle/>
          <a:p>
            <a:pPr algn="l"/>
            <a:r>
              <a:rPr sz="850" b="0">
                <a:solidFill>
                  <a:srgbClr val="686069"/>
                </a:solidFill>
                <a:latin typeface="Aptos"/>
              </a:rPr>
              <a:t>Find peers &amp; shared interests</a:t>
            </a:r>
          </a:p>
        </p:txBody>
      </p:sp>
      <p:cxnSp>
        <p:nvCxnSpPr>
          <p:cNvPr id="23" name="Connector 22"/>
          <p:cNvCxnSpPr>
            <a:cxnSpLocks/>
            <a:endCxn id="20" idx="0"/>
          </p:cNvCxnSpPr>
          <p:nvPr/>
        </p:nvCxnSpPr>
        <p:spPr>
          <a:xfrm>
            <a:off x="5961888" y="3127248"/>
            <a:ext cx="3479292" cy="850391"/>
          </a:xfrm>
          <a:prstGeom prst="line">
            <a:avLst/>
          </a:prstGeom>
          <a:ln w="12700">
            <a:solidFill>
              <a:srgbClr val="CDC3CF"/>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3749039" y="5120640"/>
            <a:ext cx="2148840" cy="82296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13631" y="5239512"/>
            <a:ext cx="1737360" cy="256032"/>
          </a:xfrm>
          <a:prstGeom prst="rect">
            <a:avLst/>
          </a:prstGeom>
          <a:noFill/>
        </p:spPr>
        <p:txBody>
          <a:bodyPr wrap="square" lIns="18288" tIns="18288" rIns="18288" bIns="18288" anchor="t">
            <a:spAutoFit/>
          </a:bodyPr>
          <a:lstStyle/>
          <a:p>
            <a:pPr algn="l"/>
            <a:r>
              <a:rPr sz="1300" b="1">
                <a:solidFill>
                  <a:srgbClr val="1F1B23"/>
                </a:solidFill>
                <a:latin typeface="Aptos"/>
              </a:rPr>
              <a:t>Events</a:t>
            </a:r>
          </a:p>
        </p:txBody>
      </p:sp>
      <p:sp>
        <p:nvSpPr>
          <p:cNvPr id="26" name="TextBox 25"/>
          <p:cNvSpPr txBox="1"/>
          <p:nvPr/>
        </p:nvSpPr>
        <p:spPr>
          <a:xfrm>
            <a:off x="3913631" y="5532120"/>
            <a:ext cx="1828800" cy="256032"/>
          </a:xfrm>
          <a:prstGeom prst="rect">
            <a:avLst/>
          </a:prstGeom>
          <a:noFill/>
        </p:spPr>
        <p:txBody>
          <a:bodyPr wrap="square" lIns="18288" tIns="18288" rIns="18288" bIns="18288" anchor="t">
            <a:spAutoFit/>
          </a:bodyPr>
          <a:lstStyle/>
          <a:p>
            <a:pPr algn="l"/>
            <a:r>
              <a:rPr sz="850" b="0">
                <a:solidFill>
                  <a:srgbClr val="686069"/>
                </a:solidFill>
                <a:latin typeface="Aptos"/>
              </a:rPr>
              <a:t>Participate in the ecosystem</a:t>
            </a:r>
          </a:p>
        </p:txBody>
      </p:sp>
      <p:cxnSp>
        <p:nvCxnSpPr>
          <p:cNvPr id="27" name="Connector 26"/>
          <p:cNvCxnSpPr>
            <a:cxnSpLocks/>
            <a:endCxn id="24" idx="0"/>
          </p:cNvCxnSpPr>
          <p:nvPr/>
        </p:nvCxnSpPr>
        <p:spPr>
          <a:xfrm flipH="1">
            <a:off x="4823459" y="3127248"/>
            <a:ext cx="1138429" cy="1993392"/>
          </a:xfrm>
          <a:prstGeom prst="line">
            <a:avLst/>
          </a:prstGeom>
          <a:ln w="12700">
            <a:solidFill>
              <a:srgbClr val="CDC3CF"/>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400800" y="5120640"/>
            <a:ext cx="2148840" cy="82296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65392" y="5239512"/>
            <a:ext cx="1737360" cy="256032"/>
          </a:xfrm>
          <a:prstGeom prst="rect">
            <a:avLst/>
          </a:prstGeom>
          <a:noFill/>
        </p:spPr>
        <p:txBody>
          <a:bodyPr wrap="square" lIns="18288" tIns="18288" rIns="18288" bIns="18288" anchor="t">
            <a:spAutoFit/>
          </a:bodyPr>
          <a:lstStyle/>
          <a:p>
            <a:pPr algn="l"/>
            <a:r>
              <a:rPr sz="1300" b="1">
                <a:solidFill>
                  <a:srgbClr val="1F1B23"/>
                </a:solidFill>
                <a:latin typeface="Aptos"/>
              </a:rPr>
              <a:t>Research</a:t>
            </a:r>
          </a:p>
        </p:txBody>
      </p:sp>
      <p:sp>
        <p:nvSpPr>
          <p:cNvPr id="30" name="TextBox 29"/>
          <p:cNvSpPr txBox="1"/>
          <p:nvPr/>
        </p:nvSpPr>
        <p:spPr>
          <a:xfrm>
            <a:off x="6565392" y="5532120"/>
            <a:ext cx="1828800" cy="256032"/>
          </a:xfrm>
          <a:prstGeom prst="rect">
            <a:avLst/>
          </a:prstGeom>
          <a:noFill/>
        </p:spPr>
        <p:txBody>
          <a:bodyPr wrap="square" lIns="18288" tIns="18288" rIns="18288" bIns="18288" anchor="t">
            <a:spAutoFit/>
          </a:bodyPr>
          <a:lstStyle/>
          <a:p>
            <a:pPr algn="l"/>
            <a:r>
              <a:rPr sz="850" b="0">
                <a:solidFill>
                  <a:srgbClr val="686069"/>
                </a:solidFill>
                <a:latin typeface="Aptos"/>
              </a:rPr>
              <a:t>Find evidence &amp; collaboration</a:t>
            </a:r>
          </a:p>
        </p:txBody>
      </p:sp>
      <p:cxnSp>
        <p:nvCxnSpPr>
          <p:cNvPr id="31" name="Connector 30"/>
          <p:cNvCxnSpPr>
            <a:cxnSpLocks/>
          </p:cNvCxnSpPr>
          <p:nvPr/>
        </p:nvCxnSpPr>
        <p:spPr>
          <a:xfrm>
            <a:off x="5961888" y="3127248"/>
            <a:ext cx="1508760" cy="1993392"/>
          </a:xfrm>
          <a:prstGeom prst="line">
            <a:avLst/>
          </a:prstGeom>
          <a:ln w="12700">
            <a:solidFill>
              <a:srgbClr val="CDC3CF"/>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246120" y="6089905"/>
            <a:ext cx="5852160" cy="347472"/>
          </a:xfrm>
          <a:prstGeom prst="rect">
            <a:avLst/>
          </a:prstGeom>
          <a:noFill/>
        </p:spPr>
        <p:txBody>
          <a:bodyPr wrap="square" lIns="18288" tIns="18288" rIns="18288" bIns="18288" anchor="t">
            <a:spAutoFit/>
          </a:bodyPr>
          <a:lstStyle/>
          <a:p>
            <a:pPr algn="ctr"/>
            <a:r>
              <a:rPr sz="1500" b="1" dirty="0" err="1">
                <a:solidFill>
                  <a:srgbClr val="4A0139"/>
                </a:solidFill>
                <a:latin typeface="Aptos"/>
              </a:rPr>
              <a:t>Pentasent’s</a:t>
            </a:r>
            <a:r>
              <a:rPr sz="1500" b="1" dirty="0">
                <a:solidFill>
                  <a:srgbClr val="4A0139"/>
                </a:solidFill>
                <a:latin typeface="Aptos"/>
              </a:rPr>
              <a:t> job is to make these connections native.</a:t>
            </a:r>
          </a:p>
        </p:txBody>
      </p:sp>
      <p:cxnSp>
        <p:nvCxnSpPr>
          <p:cNvPr id="33" name="Connector 32"/>
          <p:cNvCxnSpPr/>
          <p:nvPr/>
        </p:nvCxnSpPr>
        <p:spPr>
          <a:xfrm>
            <a:off x="594360" y="6473952"/>
            <a:ext cx="11000232" cy="0"/>
          </a:xfrm>
          <a:prstGeom prst="line">
            <a:avLst/>
          </a:prstGeom>
          <a:ln w="8890">
            <a:solidFill>
              <a:srgbClr val="E0DBDE"/>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94360" y="6519672"/>
            <a:ext cx="1280160" cy="164592"/>
          </a:xfrm>
          <a:prstGeom prst="rect">
            <a:avLst/>
          </a:prstGeom>
          <a:noFill/>
        </p:spPr>
        <p:txBody>
          <a:bodyPr wrap="square" lIns="18288" tIns="18288" rIns="18288" bIns="18288" anchor="t">
            <a:spAutoFit/>
          </a:bodyPr>
          <a:lstStyle/>
          <a:p>
            <a:pPr algn="l"/>
            <a:r>
              <a:rPr sz="850" b="1">
                <a:solidFill>
                  <a:srgbClr val="877F87"/>
                </a:solidFill>
                <a:latin typeface="Aptos"/>
              </a:rPr>
              <a:t>Pentasent</a:t>
            </a:r>
          </a:p>
        </p:txBody>
      </p:sp>
      <p:sp>
        <p:nvSpPr>
          <p:cNvPr id="35" name="TextBox 34"/>
          <p:cNvSpPr txBox="1"/>
          <p:nvPr/>
        </p:nvSpPr>
        <p:spPr>
          <a:xfrm>
            <a:off x="11064240" y="6519672"/>
            <a:ext cx="502920" cy="164592"/>
          </a:xfrm>
          <a:prstGeom prst="rect">
            <a:avLst/>
          </a:prstGeom>
          <a:noFill/>
        </p:spPr>
        <p:txBody>
          <a:bodyPr wrap="square" lIns="18288" tIns="18288" rIns="18288" bIns="18288" anchor="t">
            <a:spAutoFit/>
          </a:bodyPr>
          <a:lstStyle/>
          <a:p>
            <a:pPr algn="r"/>
            <a:r>
              <a:rPr sz="850" b="0">
                <a:solidFill>
                  <a:srgbClr val="877F87"/>
                </a:solidFill>
                <a:latin typeface="Apto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4A0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4023360" cy="256032"/>
          </a:xfrm>
          <a:prstGeom prst="rect">
            <a:avLst/>
          </a:prstGeom>
          <a:noFill/>
        </p:spPr>
        <p:txBody>
          <a:bodyPr wrap="square" lIns="18288" tIns="18288" rIns="18288" bIns="18288" anchor="t">
            <a:spAutoFit/>
          </a:bodyPr>
          <a:lstStyle/>
          <a:p>
            <a:pPr algn="l"/>
            <a:r>
              <a:rPr sz="1000" b="1">
                <a:solidFill>
                  <a:srgbClr val="DCD2DC"/>
                </a:solidFill>
                <a:latin typeface="Aptos"/>
              </a:rPr>
              <a:t>04  /  PRODUCT</a:t>
            </a:r>
          </a:p>
        </p:txBody>
      </p:sp>
      <p:sp>
        <p:nvSpPr>
          <p:cNvPr id="4" name="TextBox 3"/>
          <p:cNvSpPr txBox="1"/>
          <p:nvPr/>
        </p:nvSpPr>
        <p:spPr>
          <a:xfrm>
            <a:off x="594360" y="713232"/>
            <a:ext cx="10972800" cy="621792"/>
          </a:xfrm>
          <a:prstGeom prst="rect">
            <a:avLst/>
          </a:prstGeom>
          <a:noFill/>
        </p:spPr>
        <p:txBody>
          <a:bodyPr wrap="square" lIns="18288" tIns="18288" rIns="18288" bIns="18288" anchor="t">
            <a:spAutoFit/>
          </a:bodyPr>
          <a:lstStyle/>
          <a:p>
            <a:pPr algn="l"/>
            <a:r>
              <a:rPr sz="2800" b="1">
                <a:solidFill>
                  <a:srgbClr val="FFFFFF"/>
                </a:solidFill>
                <a:latin typeface="Aptos"/>
              </a:rPr>
              <a:t>One ecosystem. Four entry points. One healthcare graph.</a:t>
            </a:r>
          </a:p>
        </p:txBody>
      </p:sp>
      <p:sp>
        <p:nvSpPr>
          <p:cNvPr id="5" name="TextBox 4"/>
          <p:cNvSpPr txBox="1"/>
          <p:nvPr/>
        </p:nvSpPr>
        <p:spPr>
          <a:xfrm>
            <a:off x="612648" y="1353312"/>
            <a:ext cx="10789920" cy="438912"/>
          </a:xfrm>
          <a:prstGeom prst="rect">
            <a:avLst/>
          </a:prstGeom>
          <a:noFill/>
        </p:spPr>
        <p:txBody>
          <a:bodyPr wrap="square" lIns="18288" tIns="18288" rIns="18288" bIns="18288" anchor="t">
            <a:spAutoFit/>
          </a:bodyPr>
          <a:lstStyle/>
          <a:p>
            <a:pPr algn="l"/>
            <a:r>
              <a:rPr sz="1350" b="0">
                <a:solidFill>
                  <a:srgbClr val="DCD2DC"/>
                </a:solidFill>
                <a:latin typeface="Aptos"/>
              </a:rPr>
              <a:t>The experience adapts to what a person is trying to accomplish.</a:t>
            </a:r>
          </a:p>
        </p:txBody>
      </p:sp>
      <p:sp>
        <p:nvSpPr>
          <p:cNvPr id="6" name="Rounded Rectangle 5"/>
          <p:cNvSpPr/>
          <p:nvPr/>
        </p:nvSpPr>
        <p:spPr>
          <a:xfrm>
            <a:off x="640080" y="2103120"/>
            <a:ext cx="2468880" cy="2971800"/>
          </a:xfrm>
          <a:prstGeom prst="roundRect">
            <a:avLst/>
          </a:prstGeom>
          <a:solidFill>
            <a:srgbClr val="561645"/>
          </a:solidFill>
          <a:ln w="10160">
            <a:solidFill>
              <a:srgbClr val="7841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359152"/>
            <a:ext cx="411480" cy="256032"/>
          </a:xfrm>
          <a:prstGeom prst="rect">
            <a:avLst/>
          </a:prstGeom>
          <a:noFill/>
        </p:spPr>
        <p:txBody>
          <a:bodyPr wrap="square" lIns="18288" tIns="18288" rIns="18288" bIns="18288" anchor="t">
            <a:spAutoFit/>
          </a:bodyPr>
          <a:lstStyle/>
          <a:p>
            <a:pPr algn="l"/>
            <a:r>
              <a:rPr sz="1000" b="1">
                <a:solidFill>
                  <a:srgbClr val="EFD5E6"/>
                </a:solidFill>
                <a:latin typeface="Aptos"/>
              </a:rPr>
              <a:t>01</a:t>
            </a:r>
          </a:p>
        </p:txBody>
      </p:sp>
      <p:sp>
        <p:nvSpPr>
          <p:cNvPr id="8" name="TextBox 7"/>
          <p:cNvSpPr txBox="1"/>
          <p:nvPr/>
        </p:nvSpPr>
        <p:spPr>
          <a:xfrm>
            <a:off x="868680" y="2834640"/>
            <a:ext cx="2011680" cy="347472"/>
          </a:xfrm>
          <a:prstGeom prst="rect">
            <a:avLst/>
          </a:prstGeom>
          <a:noFill/>
        </p:spPr>
        <p:txBody>
          <a:bodyPr wrap="square" lIns="18288" tIns="18288" rIns="18288" bIns="18288" anchor="t">
            <a:spAutoFit/>
          </a:bodyPr>
          <a:lstStyle/>
          <a:p>
            <a:pPr algn="l"/>
            <a:r>
              <a:rPr sz="1700" b="1">
                <a:solidFill>
                  <a:srgbClr val="FFFFFF"/>
                </a:solidFill>
                <a:latin typeface="Aptos"/>
              </a:rPr>
              <a:t>FOR ME</a:t>
            </a:r>
          </a:p>
        </p:txBody>
      </p:sp>
      <p:sp>
        <p:nvSpPr>
          <p:cNvPr id="9" name="TextBox 8"/>
          <p:cNvSpPr txBox="1"/>
          <p:nvPr/>
        </p:nvSpPr>
        <p:spPr>
          <a:xfrm>
            <a:off x="868680" y="3401568"/>
            <a:ext cx="1965960" cy="1051560"/>
          </a:xfrm>
          <a:prstGeom prst="rect">
            <a:avLst/>
          </a:prstGeom>
          <a:noFill/>
        </p:spPr>
        <p:txBody>
          <a:bodyPr wrap="square" lIns="18288" tIns="18288" rIns="18288" bIns="18288" anchor="t">
            <a:spAutoFit/>
          </a:bodyPr>
          <a:lstStyle/>
          <a:p>
            <a:pPr algn="l"/>
            <a:r>
              <a:rPr sz="1120" b="0">
                <a:solidFill>
                  <a:srgbClr val="E7D9E5"/>
                </a:solidFill>
                <a:latin typeface="Aptos"/>
              </a:rPr>
              <a:t>Track health, discover care, tools, wellness &amp; trusted information</a:t>
            </a:r>
          </a:p>
        </p:txBody>
      </p:sp>
      <p:sp>
        <p:nvSpPr>
          <p:cNvPr id="10" name="Rounded Rectangle 9"/>
          <p:cNvSpPr/>
          <p:nvPr/>
        </p:nvSpPr>
        <p:spPr>
          <a:xfrm>
            <a:off x="3456432" y="2103120"/>
            <a:ext cx="2468880" cy="2971800"/>
          </a:xfrm>
          <a:prstGeom prst="roundRect">
            <a:avLst/>
          </a:prstGeom>
          <a:solidFill>
            <a:srgbClr val="561645"/>
          </a:solidFill>
          <a:ln w="10160">
            <a:solidFill>
              <a:srgbClr val="7841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85032" y="2359152"/>
            <a:ext cx="411480" cy="256032"/>
          </a:xfrm>
          <a:prstGeom prst="rect">
            <a:avLst/>
          </a:prstGeom>
          <a:noFill/>
        </p:spPr>
        <p:txBody>
          <a:bodyPr wrap="square" lIns="18288" tIns="18288" rIns="18288" bIns="18288" anchor="t">
            <a:spAutoFit/>
          </a:bodyPr>
          <a:lstStyle/>
          <a:p>
            <a:pPr algn="l"/>
            <a:r>
              <a:rPr sz="1000" b="1">
                <a:solidFill>
                  <a:srgbClr val="EFD5E6"/>
                </a:solidFill>
                <a:latin typeface="Aptos"/>
              </a:rPr>
              <a:t>02</a:t>
            </a:r>
          </a:p>
        </p:txBody>
      </p:sp>
      <p:sp>
        <p:nvSpPr>
          <p:cNvPr id="12" name="TextBox 11"/>
          <p:cNvSpPr txBox="1"/>
          <p:nvPr/>
        </p:nvSpPr>
        <p:spPr>
          <a:xfrm>
            <a:off x="3685032" y="2834640"/>
            <a:ext cx="2011680" cy="347472"/>
          </a:xfrm>
          <a:prstGeom prst="rect">
            <a:avLst/>
          </a:prstGeom>
          <a:noFill/>
        </p:spPr>
        <p:txBody>
          <a:bodyPr wrap="square" lIns="18288" tIns="18288" rIns="18288" bIns="18288" anchor="t">
            <a:spAutoFit/>
          </a:bodyPr>
          <a:lstStyle/>
          <a:p>
            <a:pPr algn="l"/>
            <a:r>
              <a:rPr sz="1700" b="1">
                <a:solidFill>
                  <a:srgbClr val="FFFFFF"/>
                </a:solidFill>
                <a:latin typeface="Aptos"/>
              </a:rPr>
              <a:t>PROFESSIONALS</a:t>
            </a:r>
          </a:p>
        </p:txBody>
      </p:sp>
      <p:sp>
        <p:nvSpPr>
          <p:cNvPr id="13" name="TextBox 12"/>
          <p:cNvSpPr txBox="1"/>
          <p:nvPr/>
        </p:nvSpPr>
        <p:spPr>
          <a:xfrm>
            <a:off x="3685032" y="3401568"/>
            <a:ext cx="1965960" cy="1051560"/>
          </a:xfrm>
          <a:prstGeom prst="rect">
            <a:avLst/>
          </a:prstGeom>
          <a:noFill/>
        </p:spPr>
        <p:txBody>
          <a:bodyPr wrap="square" lIns="18288" tIns="18288" rIns="18288" bIns="18288" anchor="t">
            <a:spAutoFit/>
          </a:bodyPr>
          <a:lstStyle/>
          <a:p>
            <a:pPr algn="l"/>
            <a:r>
              <a:rPr sz="1120" b="0">
                <a:solidFill>
                  <a:srgbClr val="E7D9E5"/>
                </a:solidFill>
                <a:latin typeface="Aptos"/>
              </a:rPr>
              <a:t>Build identity, publish expertise, join communities, find jobs &amp; events</a:t>
            </a:r>
          </a:p>
        </p:txBody>
      </p:sp>
      <p:sp>
        <p:nvSpPr>
          <p:cNvPr id="14" name="Rounded Rectangle 13"/>
          <p:cNvSpPr/>
          <p:nvPr/>
        </p:nvSpPr>
        <p:spPr>
          <a:xfrm>
            <a:off x="6272784" y="2103120"/>
            <a:ext cx="2468880" cy="2971800"/>
          </a:xfrm>
          <a:prstGeom prst="roundRect">
            <a:avLst/>
          </a:prstGeom>
          <a:solidFill>
            <a:srgbClr val="561645"/>
          </a:solidFill>
          <a:ln w="10160">
            <a:solidFill>
              <a:srgbClr val="7841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01384" y="2359152"/>
            <a:ext cx="411480" cy="256032"/>
          </a:xfrm>
          <a:prstGeom prst="rect">
            <a:avLst/>
          </a:prstGeom>
          <a:noFill/>
        </p:spPr>
        <p:txBody>
          <a:bodyPr wrap="square" lIns="18288" tIns="18288" rIns="18288" bIns="18288" anchor="t">
            <a:spAutoFit/>
          </a:bodyPr>
          <a:lstStyle/>
          <a:p>
            <a:pPr algn="l"/>
            <a:r>
              <a:rPr sz="1000" b="1">
                <a:solidFill>
                  <a:srgbClr val="EFD5E6"/>
                </a:solidFill>
                <a:latin typeface="Aptos"/>
              </a:rPr>
              <a:t>03</a:t>
            </a:r>
          </a:p>
        </p:txBody>
      </p:sp>
      <p:sp>
        <p:nvSpPr>
          <p:cNvPr id="16" name="TextBox 15"/>
          <p:cNvSpPr txBox="1"/>
          <p:nvPr/>
        </p:nvSpPr>
        <p:spPr>
          <a:xfrm>
            <a:off x="6501384" y="2834640"/>
            <a:ext cx="2011680" cy="347472"/>
          </a:xfrm>
          <a:prstGeom prst="rect">
            <a:avLst/>
          </a:prstGeom>
          <a:noFill/>
        </p:spPr>
        <p:txBody>
          <a:bodyPr wrap="square" lIns="18288" tIns="18288" rIns="18288" bIns="18288" anchor="t">
            <a:spAutoFit/>
          </a:bodyPr>
          <a:lstStyle/>
          <a:p>
            <a:pPr algn="l"/>
            <a:r>
              <a:rPr sz="1700" b="1">
                <a:solidFill>
                  <a:srgbClr val="FFFFFF"/>
                </a:solidFill>
                <a:latin typeface="Aptos"/>
              </a:rPr>
              <a:t>ORGANIZATIONS</a:t>
            </a:r>
          </a:p>
        </p:txBody>
      </p:sp>
      <p:sp>
        <p:nvSpPr>
          <p:cNvPr id="17" name="TextBox 16"/>
          <p:cNvSpPr txBox="1"/>
          <p:nvPr/>
        </p:nvSpPr>
        <p:spPr>
          <a:xfrm>
            <a:off x="6501384" y="3401568"/>
            <a:ext cx="1965960" cy="1051560"/>
          </a:xfrm>
          <a:prstGeom prst="rect">
            <a:avLst/>
          </a:prstGeom>
          <a:noFill/>
        </p:spPr>
        <p:txBody>
          <a:bodyPr wrap="square" lIns="18288" tIns="18288" rIns="18288" bIns="18288" anchor="t">
            <a:spAutoFit/>
          </a:bodyPr>
          <a:lstStyle/>
          <a:p>
            <a:pPr algn="l"/>
            <a:r>
              <a:rPr sz="1120" b="0">
                <a:solidFill>
                  <a:srgbClr val="E7D9E5"/>
                </a:solidFill>
                <a:latin typeface="Aptos"/>
              </a:rPr>
              <a:t>Create presence, list services, products, teams, events &amp; opportunities</a:t>
            </a:r>
          </a:p>
        </p:txBody>
      </p:sp>
      <p:sp>
        <p:nvSpPr>
          <p:cNvPr id="18" name="Rounded Rectangle 17"/>
          <p:cNvSpPr/>
          <p:nvPr/>
        </p:nvSpPr>
        <p:spPr>
          <a:xfrm>
            <a:off x="9089136" y="2103120"/>
            <a:ext cx="2468880" cy="2971800"/>
          </a:xfrm>
          <a:prstGeom prst="roundRect">
            <a:avLst/>
          </a:prstGeom>
          <a:solidFill>
            <a:srgbClr val="561645"/>
          </a:solidFill>
          <a:ln w="10160">
            <a:solidFill>
              <a:srgbClr val="7841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17736" y="2359152"/>
            <a:ext cx="411480" cy="256032"/>
          </a:xfrm>
          <a:prstGeom prst="rect">
            <a:avLst/>
          </a:prstGeom>
          <a:noFill/>
        </p:spPr>
        <p:txBody>
          <a:bodyPr wrap="square" lIns="18288" tIns="18288" rIns="18288" bIns="18288" anchor="t">
            <a:spAutoFit/>
          </a:bodyPr>
          <a:lstStyle/>
          <a:p>
            <a:pPr algn="l"/>
            <a:r>
              <a:rPr sz="1000" b="1">
                <a:solidFill>
                  <a:srgbClr val="EFD5E6"/>
                </a:solidFill>
                <a:latin typeface="Aptos"/>
              </a:rPr>
              <a:t>04</a:t>
            </a:r>
          </a:p>
        </p:txBody>
      </p:sp>
      <p:sp>
        <p:nvSpPr>
          <p:cNvPr id="20" name="TextBox 19"/>
          <p:cNvSpPr txBox="1"/>
          <p:nvPr/>
        </p:nvSpPr>
        <p:spPr>
          <a:xfrm>
            <a:off x="9317736" y="2834640"/>
            <a:ext cx="2011680" cy="347472"/>
          </a:xfrm>
          <a:prstGeom prst="rect">
            <a:avLst/>
          </a:prstGeom>
          <a:noFill/>
        </p:spPr>
        <p:txBody>
          <a:bodyPr wrap="square" lIns="18288" tIns="18288" rIns="18288" bIns="18288" anchor="t">
            <a:spAutoFit/>
          </a:bodyPr>
          <a:lstStyle/>
          <a:p>
            <a:pPr algn="l"/>
            <a:r>
              <a:rPr sz="1700" b="1">
                <a:solidFill>
                  <a:srgbClr val="FFFFFF"/>
                </a:solidFill>
                <a:latin typeface="Aptos"/>
              </a:rPr>
              <a:t>ECOSYSTEM</a:t>
            </a:r>
          </a:p>
        </p:txBody>
      </p:sp>
      <p:sp>
        <p:nvSpPr>
          <p:cNvPr id="21" name="TextBox 20"/>
          <p:cNvSpPr txBox="1"/>
          <p:nvPr/>
        </p:nvSpPr>
        <p:spPr>
          <a:xfrm>
            <a:off x="9317736" y="3401568"/>
            <a:ext cx="1965960" cy="1051560"/>
          </a:xfrm>
          <a:prstGeom prst="rect">
            <a:avLst/>
          </a:prstGeom>
          <a:noFill/>
        </p:spPr>
        <p:txBody>
          <a:bodyPr wrap="square" lIns="18288" tIns="18288" rIns="18288" bIns="18288" anchor="t">
            <a:spAutoFit/>
          </a:bodyPr>
          <a:lstStyle/>
          <a:p>
            <a:pPr algn="l"/>
            <a:r>
              <a:rPr sz="1120" b="0">
                <a:solidFill>
                  <a:srgbClr val="E7D9E5"/>
                </a:solidFill>
                <a:latin typeface="Aptos"/>
              </a:rPr>
              <a:t>Connect research, news, products, communities, events &amp; collaboration</a:t>
            </a:r>
          </a:p>
        </p:txBody>
      </p:sp>
      <p:sp>
        <p:nvSpPr>
          <p:cNvPr id="22" name="TextBox 21"/>
          <p:cNvSpPr txBox="1"/>
          <p:nvPr/>
        </p:nvSpPr>
        <p:spPr>
          <a:xfrm>
            <a:off x="914400" y="5596128"/>
            <a:ext cx="10332720" cy="411480"/>
          </a:xfrm>
          <a:prstGeom prst="rect">
            <a:avLst/>
          </a:prstGeom>
          <a:noFill/>
        </p:spPr>
        <p:txBody>
          <a:bodyPr wrap="square" lIns="18288" tIns="18288" rIns="18288" bIns="18288" anchor="t">
            <a:spAutoFit/>
          </a:bodyPr>
          <a:lstStyle/>
          <a:p>
            <a:pPr algn="ctr"/>
            <a:r>
              <a:rPr sz="1400" b="1">
                <a:solidFill>
                  <a:srgbClr val="FFFFFF"/>
                </a:solidFill>
                <a:latin typeface="Aptos"/>
              </a:rPr>
              <a:t>The same underlying ecosystem becomes more valuable as more healthcare entities participate.</a:t>
            </a:r>
          </a:p>
        </p:txBody>
      </p:sp>
      <p:cxnSp>
        <p:nvCxnSpPr>
          <p:cNvPr id="23" name="Connector 22"/>
          <p:cNvCxnSpPr/>
          <p:nvPr/>
        </p:nvCxnSpPr>
        <p:spPr>
          <a:xfrm>
            <a:off x="594360" y="6473952"/>
            <a:ext cx="11000232" cy="0"/>
          </a:xfrm>
          <a:prstGeom prst="line">
            <a:avLst/>
          </a:prstGeom>
          <a:ln w="8890">
            <a:solidFill>
              <a:srgbClr val="5A325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94360" y="6519672"/>
            <a:ext cx="1280160" cy="164592"/>
          </a:xfrm>
          <a:prstGeom prst="rect">
            <a:avLst/>
          </a:prstGeom>
          <a:noFill/>
        </p:spPr>
        <p:txBody>
          <a:bodyPr wrap="square" lIns="18288" tIns="18288" rIns="18288" bIns="18288" anchor="t">
            <a:spAutoFit/>
          </a:bodyPr>
          <a:lstStyle/>
          <a:p>
            <a:pPr algn="l"/>
            <a:r>
              <a:rPr sz="850" b="1">
                <a:solidFill>
                  <a:srgbClr val="D5C8D3"/>
                </a:solidFill>
                <a:latin typeface="Aptos"/>
              </a:rPr>
              <a:t>Pentasent</a:t>
            </a:r>
          </a:p>
        </p:txBody>
      </p:sp>
      <p:sp>
        <p:nvSpPr>
          <p:cNvPr id="25" name="TextBox 24"/>
          <p:cNvSpPr txBox="1"/>
          <p:nvPr/>
        </p:nvSpPr>
        <p:spPr>
          <a:xfrm>
            <a:off x="11064240" y="6519672"/>
            <a:ext cx="502920" cy="164592"/>
          </a:xfrm>
          <a:prstGeom prst="rect">
            <a:avLst/>
          </a:prstGeom>
          <a:noFill/>
        </p:spPr>
        <p:txBody>
          <a:bodyPr wrap="square" lIns="18288" tIns="18288" rIns="18288" bIns="18288" anchor="t">
            <a:spAutoFit/>
          </a:bodyPr>
          <a:lstStyle/>
          <a:p>
            <a:pPr algn="r"/>
            <a:r>
              <a:rPr sz="850" b="0">
                <a:solidFill>
                  <a:srgbClr val="D5C8D3"/>
                </a:solidFill>
                <a:latin typeface="Apto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4023360" cy="256032"/>
          </a:xfrm>
          <a:prstGeom prst="rect">
            <a:avLst/>
          </a:prstGeom>
          <a:noFill/>
        </p:spPr>
        <p:txBody>
          <a:bodyPr wrap="square" lIns="18288" tIns="18288" rIns="18288" bIns="18288" anchor="t">
            <a:spAutoFit/>
          </a:bodyPr>
          <a:lstStyle/>
          <a:p>
            <a:pPr algn="l"/>
            <a:r>
              <a:rPr sz="1000" b="1">
                <a:solidFill>
                  <a:srgbClr val="686069"/>
                </a:solidFill>
                <a:latin typeface="Aptos"/>
              </a:rPr>
              <a:t>05  /  PRODUCT SURFACE</a:t>
            </a:r>
          </a:p>
        </p:txBody>
      </p:sp>
      <p:sp>
        <p:nvSpPr>
          <p:cNvPr id="4" name="TextBox 3"/>
          <p:cNvSpPr txBox="1"/>
          <p:nvPr/>
        </p:nvSpPr>
        <p:spPr>
          <a:xfrm>
            <a:off x="594360" y="713232"/>
            <a:ext cx="10972800" cy="621792"/>
          </a:xfrm>
          <a:prstGeom prst="rect">
            <a:avLst/>
          </a:prstGeom>
          <a:noFill/>
        </p:spPr>
        <p:txBody>
          <a:bodyPr wrap="square" lIns="18288" tIns="18288" rIns="18288" bIns="18288" anchor="t">
            <a:spAutoFit/>
          </a:bodyPr>
          <a:lstStyle/>
          <a:p>
            <a:pPr algn="l"/>
            <a:r>
              <a:rPr sz="2800" b="1">
                <a:solidFill>
                  <a:srgbClr val="1F1B23"/>
                </a:solidFill>
                <a:latin typeface="Aptos"/>
              </a:rPr>
              <a:t>A healthcare ecosystem, not a single-purpose app.</a:t>
            </a:r>
          </a:p>
        </p:txBody>
      </p:sp>
      <p:sp>
        <p:nvSpPr>
          <p:cNvPr id="5" name="TextBox 4"/>
          <p:cNvSpPr txBox="1"/>
          <p:nvPr/>
        </p:nvSpPr>
        <p:spPr>
          <a:xfrm>
            <a:off x="612648" y="1353312"/>
            <a:ext cx="10789920" cy="438912"/>
          </a:xfrm>
          <a:prstGeom prst="rect">
            <a:avLst/>
          </a:prstGeom>
          <a:noFill/>
        </p:spPr>
        <p:txBody>
          <a:bodyPr wrap="square" lIns="18288" tIns="18288" rIns="18288" bIns="18288" anchor="t">
            <a:spAutoFit/>
          </a:bodyPr>
          <a:lstStyle/>
          <a:p>
            <a:pPr algn="l"/>
            <a:r>
              <a:rPr sz="1350" b="0">
                <a:solidFill>
                  <a:srgbClr val="686069"/>
                </a:solidFill>
                <a:latin typeface="Aptos"/>
              </a:rPr>
              <a:t>The platform is organized around the entities people already encounter in healthcare.</a:t>
            </a:r>
          </a:p>
        </p:txBody>
      </p:sp>
      <p:sp>
        <p:nvSpPr>
          <p:cNvPr id="6" name="Rounded Rectangle 5"/>
          <p:cNvSpPr/>
          <p:nvPr/>
        </p:nvSpPr>
        <p:spPr>
          <a:xfrm>
            <a:off x="640080" y="1965960"/>
            <a:ext cx="2487168" cy="123444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22959" y="2148840"/>
            <a:ext cx="274320" cy="274320"/>
          </a:xfrm>
          <a:prstGeom prst="ellipse">
            <a:avLst/>
          </a:prstGeom>
          <a:solidFill>
            <a:srgbClr val="4A0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07007" y="2121408"/>
            <a:ext cx="1737360" cy="274320"/>
          </a:xfrm>
          <a:prstGeom prst="rect">
            <a:avLst/>
          </a:prstGeom>
          <a:noFill/>
        </p:spPr>
        <p:txBody>
          <a:bodyPr wrap="square" lIns="18288" tIns="18288" rIns="18288" bIns="18288" anchor="t">
            <a:spAutoFit/>
          </a:bodyPr>
          <a:lstStyle/>
          <a:p>
            <a:pPr algn="l"/>
            <a:r>
              <a:rPr sz="1100" b="1">
                <a:solidFill>
                  <a:srgbClr val="1F1B23"/>
                </a:solidFill>
                <a:latin typeface="Aptos"/>
              </a:rPr>
              <a:t>PEOPLE</a:t>
            </a:r>
          </a:p>
        </p:txBody>
      </p:sp>
      <p:sp>
        <p:nvSpPr>
          <p:cNvPr id="9" name="TextBox 8"/>
          <p:cNvSpPr txBox="1"/>
          <p:nvPr/>
        </p:nvSpPr>
        <p:spPr>
          <a:xfrm>
            <a:off x="822959" y="2532888"/>
            <a:ext cx="2084831" cy="438912"/>
          </a:xfrm>
          <a:prstGeom prst="rect">
            <a:avLst/>
          </a:prstGeom>
          <a:noFill/>
        </p:spPr>
        <p:txBody>
          <a:bodyPr wrap="square" lIns="18288" tIns="18288" rIns="18288" bIns="18288" anchor="t">
            <a:spAutoFit/>
          </a:bodyPr>
          <a:lstStyle/>
          <a:p>
            <a:pPr algn="l"/>
            <a:r>
              <a:rPr sz="980" b="0">
                <a:solidFill>
                  <a:srgbClr val="686069"/>
                </a:solidFill>
                <a:latin typeface="Aptos"/>
              </a:rPr>
              <a:t>Profiles, expertise, identity &amp; discovery</a:t>
            </a:r>
          </a:p>
        </p:txBody>
      </p:sp>
      <p:sp>
        <p:nvSpPr>
          <p:cNvPr id="10" name="Rounded Rectangle 9"/>
          <p:cNvSpPr/>
          <p:nvPr/>
        </p:nvSpPr>
        <p:spPr>
          <a:xfrm>
            <a:off x="3474720" y="1965960"/>
            <a:ext cx="2487168" cy="123444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657600" y="2148840"/>
            <a:ext cx="274320" cy="274320"/>
          </a:xfrm>
          <a:prstGeom prst="ellipse">
            <a:avLst/>
          </a:prstGeom>
          <a:solidFill>
            <a:srgbClr val="4A0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41648" y="2121408"/>
            <a:ext cx="1737360" cy="274320"/>
          </a:xfrm>
          <a:prstGeom prst="rect">
            <a:avLst/>
          </a:prstGeom>
          <a:noFill/>
        </p:spPr>
        <p:txBody>
          <a:bodyPr wrap="square" lIns="18288" tIns="18288" rIns="18288" bIns="18288" anchor="t">
            <a:spAutoFit/>
          </a:bodyPr>
          <a:lstStyle/>
          <a:p>
            <a:pPr algn="l"/>
            <a:r>
              <a:rPr sz="1100" b="1">
                <a:solidFill>
                  <a:srgbClr val="1F1B23"/>
                </a:solidFill>
                <a:latin typeface="Aptos"/>
              </a:rPr>
              <a:t>ORGANIZATIONS</a:t>
            </a:r>
          </a:p>
        </p:txBody>
      </p:sp>
      <p:sp>
        <p:nvSpPr>
          <p:cNvPr id="13" name="TextBox 12"/>
          <p:cNvSpPr txBox="1"/>
          <p:nvPr/>
        </p:nvSpPr>
        <p:spPr>
          <a:xfrm>
            <a:off x="3657600" y="2532888"/>
            <a:ext cx="2084831" cy="438912"/>
          </a:xfrm>
          <a:prstGeom prst="rect">
            <a:avLst/>
          </a:prstGeom>
          <a:noFill/>
        </p:spPr>
        <p:txBody>
          <a:bodyPr wrap="square" lIns="18288" tIns="18288" rIns="18288" bIns="18288" anchor="t">
            <a:spAutoFit/>
          </a:bodyPr>
          <a:lstStyle/>
          <a:p>
            <a:pPr algn="l"/>
            <a:r>
              <a:rPr sz="980" b="0">
                <a:solidFill>
                  <a:srgbClr val="686069"/>
                </a:solidFill>
                <a:latin typeface="Aptos"/>
              </a:rPr>
              <a:t>Hospitals, clinics, companies, institutions</a:t>
            </a:r>
          </a:p>
        </p:txBody>
      </p:sp>
      <p:sp>
        <p:nvSpPr>
          <p:cNvPr id="14" name="Rounded Rectangle 13"/>
          <p:cNvSpPr/>
          <p:nvPr/>
        </p:nvSpPr>
        <p:spPr>
          <a:xfrm>
            <a:off x="6309360" y="1965960"/>
            <a:ext cx="2487168" cy="123444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492240" y="2148840"/>
            <a:ext cx="274320" cy="274320"/>
          </a:xfrm>
          <a:prstGeom prst="ellipse">
            <a:avLst/>
          </a:prstGeom>
          <a:solidFill>
            <a:srgbClr val="4A0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76288" y="2121408"/>
            <a:ext cx="1737360" cy="274320"/>
          </a:xfrm>
          <a:prstGeom prst="rect">
            <a:avLst/>
          </a:prstGeom>
          <a:noFill/>
        </p:spPr>
        <p:txBody>
          <a:bodyPr wrap="square" lIns="18288" tIns="18288" rIns="18288" bIns="18288" anchor="t">
            <a:spAutoFit/>
          </a:bodyPr>
          <a:lstStyle/>
          <a:p>
            <a:pPr algn="l"/>
            <a:r>
              <a:rPr sz="1100" b="1">
                <a:solidFill>
                  <a:srgbClr val="1F1B23"/>
                </a:solidFill>
                <a:latin typeface="Aptos"/>
              </a:rPr>
              <a:t>PRODUCTS</a:t>
            </a:r>
          </a:p>
        </p:txBody>
      </p:sp>
      <p:sp>
        <p:nvSpPr>
          <p:cNvPr id="17" name="TextBox 16"/>
          <p:cNvSpPr txBox="1"/>
          <p:nvPr/>
        </p:nvSpPr>
        <p:spPr>
          <a:xfrm>
            <a:off x="6492240" y="2532888"/>
            <a:ext cx="2084831" cy="438912"/>
          </a:xfrm>
          <a:prstGeom prst="rect">
            <a:avLst/>
          </a:prstGeom>
          <a:noFill/>
        </p:spPr>
        <p:txBody>
          <a:bodyPr wrap="square" lIns="18288" tIns="18288" rIns="18288" bIns="18288" anchor="t">
            <a:spAutoFit/>
          </a:bodyPr>
          <a:lstStyle/>
          <a:p>
            <a:pPr algn="l"/>
            <a:r>
              <a:rPr sz="980" b="0">
                <a:solidFill>
                  <a:srgbClr val="686069"/>
                </a:solidFill>
                <a:latin typeface="Aptos"/>
              </a:rPr>
              <a:t>Healthcare products, tools &amp; solutions</a:t>
            </a:r>
          </a:p>
        </p:txBody>
      </p:sp>
      <p:sp>
        <p:nvSpPr>
          <p:cNvPr id="18" name="Rounded Rectangle 17"/>
          <p:cNvSpPr/>
          <p:nvPr/>
        </p:nvSpPr>
        <p:spPr>
          <a:xfrm>
            <a:off x="9144000" y="1965960"/>
            <a:ext cx="2487168" cy="123444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326880" y="2148840"/>
            <a:ext cx="274320" cy="274320"/>
          </a:xfrm>
          <a:prstGeom prst="ellipse">
            <a:avLst/>
          </a:prstGeom>
          <a:solidFill>
            <a:srgbClr val="4A0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710928" y="2121408"/>
            <a:ext cx="1737360" cy="274320"/>
          </a:xfrm>
          <a:prstGeom prst="rect">
            <a:avLst/>
          </a:prstGeom>
          <a:noFill/>
        </p:spPr>
        <p:txBody>
          <a:bodyPr wrap="square" lIns="18288" tIns="18288" rIns="18288" bIns="18288" anchor="t">
            <a:spAutoFit/>
          </a:bodyPr>
          <a:lstStyle/>
          <a:p>
            <a:pPr algn="l"/>
            <a:r>
              <a:rPr sz="1100" b="1">
                <a:solidFill>
                  <a:srgbClr val="1F1B23"/>
                </a:solidFill>
                <a:latin typeface="Aptos"/>
              </a:rPr>
              <a:t>COMMUNITIES</a:t>
            </a:r>
          </a:p>
        </p:txBody>
      </p:sp>
      <p:sp>
        <p:nvSpPr>
          <p:cNvPr id="21" name="TextBox 20"/>
          <p:cNvSpPr txBox="1"/>
          <p:nvPr/>
        </p:nvSpPr>
        <p:spPr>
          <a:xfrm>
            <a:off x="9326880" y="2532888"/>
            <a:ext cx="2084831" cy="438912"/>
          </a:xfrm>
          <a:prstGeom prst="rect">
            <a:avLst/>
          </a:prstGeom>
          <a:noFill/>
        </p:spPr>
        <p:txBody>
          <a:bodyPr wrap="square" lIns="18288" tIns="18288" rIns="18288" bIns="18288" anchor="t">
            <a:spAutoFit/>
          </a:bodyPr>
          <a:lstStyle/>
          <a:p>
            <a:pPr algn="l"/>
            <a:r>
              <a:rPr sz="980" b="0">
                <a:solidFill>
                  <a:srgbClr val="686069"/>
                </a:solidFill>
                <a:latin typeface="Aptos"/>
              </a:rPr>
              <a:t>Peer groups, professional &amp; founder communities</a:t>
            </a:r>
          </a:p>
        </p:txBody>
      </p:sp>
      <p:sp>
        <p:nvSpPr>
          <p:cNvPr id="22" name="Rounded Rectangle 21"/>
          <p:cNvSpPr/>
          <p:nvPr/>
        </p:nvSpPr>
        <p:spPr>
          <a:xfrm>
            <a:off x="640080" y="3538728"/>
            <a:ext cx="2487168" cy="123444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22959" y="3721608"/>
            <a:ext cx="274320" cy="274320"/>
          </a:xfrm>
          <a:prstGeom prst="ellipse">
            <a:avLst/>
          </a:prstGeom>
          <a:solidFill>
            <a:srgbClr val="594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207007" y="3694176"/>
            <a:ext cx="1737360" cy="274320"/>
          </a:xfrm>
          <a:prstGeom prst="rect">
            <a:avLst/>
          </a:prstGeom>
          <a:noFill/>
        </p:spPr>
        <p:txBody>
          <a:bodyPr wrap="square" lIns="18288" tIns="18288" rIns="18288" bIns="18288" anchor="t">
            <a:spAutoFit/>
          </a:bodyPr>
          <a:lstStyle/>
          <a:p>
            <a:pPr algn="l"/>
            <a:r>
              <a:rPr sz="1100" b="1">
                <a:solidFill>
                  <a:srgbClr val="1F1B23"/>
                </a:solidFill>
                <a:latin typeface="Aptos"/>
              </a:rPr>
              <a:t>EVENTS</a:t>
            </a:r>
          </a:p>
        </p:txBody>
      </p:sp>
      <p:sp>
        <p:nvSpPr>
          <p:cNvPr id="25" name="TextBox 24"/>
          <p:cNvSpPr txBox="1"/>
          <p:nvPr/>
        </p:nvSpPr>
        <p:spPr>
          <a:xfrm>
            <a:off x="822959" y="4105656"/>
            <a:ext cx="2084831" cy="438912"/>
          </a:xfrm>
          <a:prstGeom prst="rect">
            <a:avLst/>
          </a:prstGeom>
          <a:noFill/>
        </p:spPr>
        <p:txBody>
          <a:bodyPr wrap="square" lIns="18288" tIns="18288" rIns="18288" bIns="18288" anchor="t">
            <a:spAutoFit/>
          </a:bodyPr>
          <a:lstStyle/>
          <a:p>
            <a:pPr algn="l"/>
            <a:r>
              <a:rPr sz="980" b="0">
                <a:solidFill>
                  <a:srgbClr val="686069"/>
                </a:solidFill>
                <a:latin typeface="Aptos"/>
              </a:rPr>
              <a:t>Conferences, workshops, challenges &amp; meetups</a:t>
            </a:r>
          </a:p>
        </p:txBody>
      </p:sp>
      <p:sp>
        <p:nvSpPr>
          <p:cNvPr id="26" name="Rounded Rectangle 25"/>
          <p:cNvSpPr/>
          <p:nvPr/>
        </p:nvSpPr>
        <p:spPr>
          <a:xfrm>
            <a:off x="3474720" y="3538728"/>
            <a:ext cx="2487168" cy="123444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657600" y="3721608"/>
            <a:ext cx="274320" cy="274320"/>
          </a:xfrm>
          <a:prstGeom prst="ellipse">
            <a:avLst/>
          </a:prstGeom>
          <a:solidFill>
            <a:srgbClr val="594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041648" y="3694176"/>
            <a:ext cx="1737360" cy="274320"/>
          </a:xfrm>
          <a:prstGeom prst="rect">
            <a:avLst/>
          </a:prstGeom>
          <a:noFill/>
        </p:spPr>
        <p:txBody>
          <a:bodyPr wrap="square" lIns="18288" tIns="18288" rIns="18288" bIns="18288" anchor="t">
            <a:spAutoFit/>
          </a:bodyPr>
          <a:lstStyle/>
          <a:p>
            <a:pPr algn="l"/>
            <a:r>
              <a:rPr sz="1100" b="1">
                <a:solidFill>
                  <a:srgbClr val="1F1B23"/>
                </a:solidFill>
                <a:latin typeface="Aptos"/>
              </a:rPr>
              <a:t>JOBS</a:t>
            </a:r>
          </a:p>
        </p:txBody>
      </p:sp>
      <p:sp>
        <p:nvSpPr>
          <p:cNvPr id="29" name="TextBox 28"/>
          <p:cNvSpPr txBox="1"/>
          <p:nvPr/>
        </p:nvSpPr>
        <p:spPr>
          <a:xfrm>
            <a:off x="3657600" y="4105656"/>
            <a:ext cx="2084831" cy="438912"/>
          </a:xfrm>
          <a:prstGeom prst="rect">
            <a:avLst/>
          </a:prstGeom>
          <a:noFill/>
        </p:spPr>
        <p:txBody>
          <a:bodyPr wrap="square" lIns="18288" tIns="18288" rIns="18288" bIns="18288" anchor="t">
            <a:spAutoFit/>
          </a:bodyPr>
          <a:lstStyle/>
          <a:p>
            <a:pPr algn="l"/>
            <a:r>
              <a:rPr sz="980" b="0">
                <a:solidFill>
                  <a:srgbClr val="686069"/>
                </a:solidFill>
                <a:latin typeface="Aptos"/>
              </a:rPr>
              <a:t>Healthcare opportunities &amp; talent discovery</a:t>
            </a:r>
          </a:p>
        </p:txBody>
      </p:sp>
      <p:sp>
        <p:nvSpPr>
          <p:cNvPr id="30" name="Rounded Rectangle 29"/>
          <p:cNvSpPr/>
          <p:nvPr/>
        </p:nvSpPr>
        <p:spPr>
          <a:xfrm>
            <a:off x="6309360" y="3538728"/>
            <a:ext cx="2487168" cy="123444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6492240" y="3721608"/>
            <a:ext cx="274320" cy="274320"/>
          </a:xfrm>
          <a:prstGeom prst="ellipse">
            <a:avLst/>
          </a:prstGeom>
          <a:solidFill>
            <a:srgbClr val="594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876288" y="3694176"/>
            <a:ext cx="1737360" cy="274320"/>
          </a:xfrm>
          <a:prstGeom prst="rect">
            <a:avLst/>
          </a:prstGeom>
          <a:noFill/>
        </p:spPr>
        <p:txBody>
          <a:bodyPr wrap="square" lIns="18288" tIns="18288" rIns="18288" bIns="18288" anchor="t">
            <a:spAutoFit/>
          </a:bodyPr>
          <a:lstStyle/>
          <a:p>
            <a:pPr algn="l"/>
            <a:r>
              <a:rPr sz="1100" b="1">
                <a:solidFill>
                  <a:srgbClr val="1F1B23"/>
                </a:solidFill>
                <a:latin typeface="Aptos"/>
              </a:rPr>
              <a:t>RESEARCH</a:t>
            </a:r>
          </a:p>
        </p:txBody>
      </p:sp>
      <p:sp>
        <p:nvSpPr>
          <p:cNvPr id="33" name="TextBox 32"/>
          <p:cNvSpPr txBox="1"/>
          <p:nvPr/>
        </p:nvSpPr>
        <p:spPr>
          <a:xfrm>
            <a:off x="6492240" y="4105656"/>
            <a:ext cx="2084831" cy="438912"/>
          </a:xfrm>
          <a:prstGeom prst="rect">
            <a:avLst/>
          </a:prstGeom>
          <a:noFill/>
        </p:spPr>
        <p:txBody>
          <a:bodyPr wrap="square" lIns="18288" tIns="18288" rIns="18288" bIns="18288" anchor="t">
            <a:spAutoFit/>
          </a:bodyPr>
          <a:lstStyle/>
          <a:p>
            <a:pPr algn="l"/>
            <a:r>
              <a:rPr sz="980" b="0">
                <a:solidFill>
                  <a:srgbClr val="686069"/>
                </a:solidFill>
                <a:latin typeface="Aptos"/>
              </a:rPr>
              <a:t>Papers, projects, collaboration &amp; innovation</a:t>
            </a:r>
          </a:p>
        </p:txBody>
      </p:sp>
      <p:sp>
        <p:nvSpPr>
          <p:cNvPr id="34" name="Rounded Rectangle 33"/>
          <p:cNvSpPr/>
          <p:nvPr/>
        </p:nvSpPr>
        <p:spPr>
          <a:xfrm>
            <a:off x="9144000" y="3538728"/>
            <a:ext cx="2487168" cy="123444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326880" y="3721608"/>
            <a:ext cx="274320" cy="274320"/>
          </a:xfrm>
          <a:prstGeom prst="ellipse">
            <a:avLst/>
          </a:prstGeom>
          <a:solidFill>
            <a:srgbClr val="594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710928" y="3694176"/>
            <a:ext cx="1737360" cy="274320"/>
          </a:xfrm>
          <a:prstGeom prst="rect">
            <a:avLst/>
          </a:prstGeom>
          <a:noFill/>
        </p:spPr>
        <p:txBody>
          <a:bodyPr wrap="square" lIns="18288" tIns="18288" rIns="18288" bIns="18288" anchor="t">
            <a:spAutoFit/>
          </a:bodyPr>
          <a:lstStyle/>
          <a:p>
            <a:pPr algn="l"/>
            <a:r>
              <a:rPr sz="1100" b="1">
                <a:solidFill>
                  <a:srgbClr val="1F1B23"/>
                </a:solidFill>
                <a:latin typeface="Aptos"/>
              </a:rPr>
              <a:t>NEWS</a:t>
            </a:r>
          </a:p>
        </p:txBody>
      </p:sp>
      <p:sp>
        <p:nvSpPr>
          <p:cNvPr id="37" name="TextBox 36"/>
          <p:cNvSpPr txBox="1"/>
          <p:nvPr/>
        </p:nvSpPr>
        <p:spPr>
          <a:xfrm>
            <a:off x="9326880" y="4105656"/>
            <a:ext cx="2084831" cy="438912"/>
          </a:xfrm>
          <a:prstGeom prst="rect">
            <a:avLst/>
          </a:prstGeom>
          <a:noFill/>
        </p:spPr>
        <p:txBody>
          <a:bodyPr wrap="square" lIns="18288" tIns="18288" rIns="18288" bIns="18288" anchor="t">
            <a:spAutoFit/>
          </a:bodyPr>
          <a:lstStyle/>
          <a:p>
            <a:pPr algn="l"/>
            <a:r>
              <a:rPr sz="980" b="0">
                <a:solidFill>
                  <a:srgbClr val="686069"/>
                </a:solidFill>
                <a:latin typeface="Aptos"/>
              </a:rPr>
              <a:t>Healthcare updates, insights &amp; ecosystem signals</a:t>
            </a:r>
          </a:p>
        </p:txBody>
      </p:sp>
      <p:cxnSp>
        <p:nvCxnSpPr>
          <p:cNvPr id="38" name="Connector 37"/>
          <p:cNvCxnSpPr/>
          <p:nvPr/>
        </p:nvCxnSpPr>
        <p:spPr>
          <a:xfrm>
            <a:off x="594360" y="6473952"/>
            <a:ext cx="11000232" cy="0"/>
          </a:xfrm>
          <a:prstGeom prst="line">
            <a:avLst/>
          </a:prstGeom>
          <a:ln w="8890">
            <a:solidFill>
              <a:srgbClr val="E0DBDE"/>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94360" y="6519672"/>
            <a:ext cx="1280160" cy="164592"/>
          </a:xfrm>
          <a:prstGeom prst="rect">
            <a:avLst/>
          </a:prstGeom>
          <a:noFill/>
        </p:spPr>
        <p:txBody>
          <a:bodyPr wrap="square" lIns="18288" tIns="18288" rIns="18288" bIns="18288" anchor="t">
            <a:spAutoFit/>
          </a:bodyPr>
          <a:lstStyle/>
          <a:p>
            <a:pPr algn="l"/>
            <a:r>
              <a:rPr sz="850" b="1">
                <a:solidFill>
                  <a:srgbClr val="877F87"/>
                </a:solidFill>
                <a:latin typeface="Aptos"/>
              </a:rPr>
              <a:t>Pentasent</a:t>
            </a:r>
          </a:p>
        </p:txBody>
      </p:sp>
      <p:sp>
        <p:nvSpPr>
          <p:cNvPr id="40" name="TextBox 39"/>
          <p:cNvSpPr txBox="1"/>
          <p:nvPr/>
        </p:nvSpPr>
        <p:spPr>
          <a:xfrm>
            <a:off x="11064240" y="6519672"/>
            <a:ext cx="502920" cy="164592"/>
          </a:xfrm>
          <a:prstGeom prst="rect">
            <a:avLst/>
          </a:prstGeom>
          <a:noFill/>
        </p:spPr>
        <p:txBody>
          <a:bodyPr wrap="square" lIns="18288" tIns="18288" rIns="18288" bIns="18288" anchor="t">
            <a:spAutoFit/>
          </a:bodyPr>
          <a:lstStyle/>
          <a:p>
            <a:pPr algn="r"/>
            <a:r>
              <a:rPr sz="850" b="0">
                <a:solidFill>
                  <a:srgbClr val="877F87"/>
                </a:solidFill>
                <a:latin typeface="Apto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4023360" cy="256032"/>
          </a:xfrm>
          <a:prstGeom prst="rect">
            <a:avLst/>
          </a:prstGeom>
          <a:noFill/>
        </p:spPr>
        <p:txBody>
          <a:bodyPr wrap="square" lIns="18288" tIns="18288" rIns="18288" bIns="18288" anchor="t">
            <a:spAutoFit/>
          </a:bodyPr>
          <a:lstStyle/>
          <a:p>
            <a:pPr algn="l"/>
            <a:r>
              <a:rPr sz="1000" b="1">
                <a:solidFill>
                  <a:srgbClr val="686069"/>
                </a:solidFill>
                <a:latin typeface="Aptos"/>
              </a:rPr>
              <a:t>06  /  EXPERIENCE</a:t>
            </a:r>
          </a:p>
        </p:txBody>
      </p:sp>
      <p:sp>
        <p:nvSpPr>
          <p:cNvPr id="4" name="TextBox 3"/>
          <p:cNvSpPr txBox="1"/>
          <p:nvPr/>
        </p:nvSpPr>
        <p:spPr>
          <a:xfrm>
            <a:off x="594360" y="713232"/>
            <a:ext cx="10972800" cy="621792"/>
          </a:xfrm>
          <a:prstGeom prst="rect">
            <a:avLst/>
          </a:prstGeom>
          <a:noFill/>
        </p:spPr>
        <p:txBody>
          <a:bodyPr wrap="square" lIns="18288" tIns="18288" rIns="18288" bIns="18288" anchor="t">
            <a:spAutoFit/>
          </a:bodyPr>
          <a:lstStyle/>
          <a:p>
            <a:pPr algn="l"/>
            <a:r>
              <a:rPr sz="2800" b="1">
                <a:solidFill>
                  <a:srgbClr val="1F1B23"/>
                </a:solidFill>
                <a:latin typeface="Aptos"/>
              </a:rPr>
              <a:t>Start with an intent. Move through the ecosystem.</a:t>
            </a:r>
          </a:p>
        </p:txBody>
      </p:sp>
      <p:sp>
        <p:nvSpPr>
          <p:cNvPr id="5" name="TextBox 4"/>
          <p:cNvSpPr txBox="1"/>
          <p:nvPr/>
        </p:nvSpPr>
        <p:spPr>
          <a:xfrm>
            <a:off x="612648" y="1353312"/>
            <a:ext cx="10789920" cy="438912"/>
          </a:xfrm>
          <a:prstGeom prst="rect">
            <a:avLst/>
          </a:prstGeom>
          <a:noFill/>
        </p:spPr>
        <p:txBody>
          <a:bodyPr wrap="square" lIns="18288" tIns="18288" rIns="18288" bIns="18288" anchor="t">
            <a:spAutoFit/>
          </a:bodyPr>
          <a:lstStyle/>
          <a:p>
            <a:pPr algn="l"/>
            <a:r>
              <a:rPr sz="1350" b="0">
                <a:solidFill>
                  <a:srgbClr val="686069"/>
                </a:solidFill>
                <a:latin typeface="Aptos"/>
              </a:rPr>
              <a:t>Pentasent is designed around journeys, not menus.</a:t>
            </a:r>
          </a:p>
        </p:txBody>
      </p:sp>
      <p:sp>
        <p:nvSpPr>
          <p:cNvPr id="6" name="Rounded Rectangle 5"/>
          <p:cNvSpPr/>
          <p:nvPr/>
        </p:nvSpPr>
        <p:spPr>
          <a:xfrm>
            <a:off x="640080" y="1920240"/>
            <a:ext cx="5074920" cy="169164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68680" y="2130552"/>
            <a:ext cx="1143000" cy="310896"/>
          </a:xfrm>
          <a:prstGeom prst="roundRect">
            <a:avLst/>
          </a:prstGeom>
          <a:solidFill>
            <a:srgbClr val="EFD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148840"/>
            <a:ext cx="1143000" cy="256032"/>
          </a:xfrm>
          <a:prstGeom prst="rect">
            <a:avLst/>
          </a:prstGeom>
          <a:noFill/>
        </p:spPr>
        <p:txBody>
          <a:bodyPr wrap="square" lIns="18288" tIns="18288" rIns="18288" bIns="18288" anchor="ctr">
            <a:spAutoFit/>
          </a:bodyPr>
          <a:lstStyle/>
          <a:p>
            <a:pPr algn="ctr"/>
            <a:r>
              <a:rPr sz="900" b="1">
                <a:solidFill>
                  <a:srgbClr val="4A0139"/>
                </a:solidFill>
                <a:latin typeface="Aptos"/>
              </a:rPr>
              <a:t>A PERSON</a:t>
            </a:r>
          </a:p>
        </p:txBody>
      </p:sp>
      <p:sp>
        <p:nvSpPr>
          <p:cNvPr id="9" name="TextBox 8"/>
          <p:cNvSpPr txBox="1"/>
          <p:nvPr/>
        </p:nvSpPr>
        <p:spPr>
          <a:xfrm>
            <a:off x="868680" y="2587752"/>
            <a:ext cx="4480560" cy="384048"/>
          </a:xfrm>
          <a:prstGeom prst="rect">
            <a:avLst/>
          </a:prstGeom>
          <a:noFill/>
        </p:spPr>
        <p:txBody>
          <a:bodyPr wrap="square" lIns="18288" tIns="18288" rIns="18288" bIns="18288" anchor="t">
            <a:spAutoFit/>
          </a:bodyPr>
          <a:lstStyle/>
          <a:p>
            <a:pPr algn="l"/>
            <a:r>
              <a:rPr sz="1350" b="1">
                <a:solidFill>
                  <a:srgbClr val="1F1B23"/>
                </a:solidFill>
                <a:latin typeface="Aptos"/>
              </a:rPr>
              <a:t>I want to understand or improve my health.</a:t>
            </a:r>
          </a:p>
        </p:txBody>
      </p:sp>
      <p:sp>
        <p:nvSpPr>
          <p:cNvPr id="10" name="TextBox 9"/>
          <p:cNvSpPr txBox="1"/>
          <p:nvPr/>
        </p:nvSpPr>
        <p:spPr>
          <a:xfrm>
            <a:off x="868680" y="3063240"/>
            <a:ext cx="4480560" cy="310896"/>
          </a:xfrm>
          <a:prstGeom prst="rect">
            <a:avLst/>
          </a:prstGeom>
          <a:noFill/>
        </p:spPr>
        <p:txBody>
          <a:bodyPr wrap="square" lIns="18288" tIns="18288" rIns="18288" bIns="18288" anchor="t">
            <a:spAutoFit/>
          </a:bodyPr>
          <a:lstStyle/>
          <a:p>
            <a:pPr algn="l"/>
            <a:r>
              <a:rPr sz="1050" b="0">
                <a:solidFill>
                  <a:srgbClr val="686069"/>
                </a:solidFill>
                <a:latin typeface="Aptos"/>
              </a:rPr>
              <a:t>Discover → Tools → Communities → Trusted providers</a:t>
            </a:r>
          </a:p>
        </p:txBody>
      </p:sp>
      <p:sp>
        <p:nvSpPr>
          <p:cNvPr id="11" name="Rounded Rectangle 10"/>
          <p:cNvSpPr/>
          <p:nvPr/>
        </p:nvSpPr>
        <p:spPr>
          <a:xfrm>
            <a:off x="6263640" y="1920240"/>
            <a:ext cx="5074920" cy="169164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492240" y="2130552"/>
            <a:ext cx="1143000" cy="310896"/>
          </a:xfrm>
          <a:prstGeom prst="roundRect">
            <a:avLst/>
          </a:prstGeom>
          <a:solidFill>
            <a:srgbClr val="EFD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2148840"/>
            <a:ext cx="1143000" cy="256032"/>
          </a:xfrm>
          <a:prstGeom prst="rect">
            <a:avLst/>
          </a:prstGeom>
          <a:noFill/>
        </p:spPr>
        <p:txBody>
          <a:bodyPr wrap="square" lIns="18288" tIns="18288" rIns="18288" bIns="18288" anchor="ctr">
            <a:spAutoFit/>
          </a:bodyPr>
          <a:lstStyle/>
          <a:p>
            <a:pPr algn="ctr"/>
            <a:r>
              <a:rPr sz="900" b="1">
                <a:solidFill>
                  <a:srgbClr val="4A0139"/>
                </a:solidFill>
                <a:latin typeface="Aptos"/>
              </a:rPr>
              <a:t>A PROFESSIONAL</a:t>
            </a:r>
          </a:p>
        </p:txBody>
      </p:sp>
      <p:sp>
        <p:nvSpPr>
          <p:cNvPr id="14" name="TextBox 13"/>
          <p:cNvSpPr txBox="1"/>
          <p:nvPr/>
        </p:nvSpPr>
        <p:spPr>
          <a:xfrm>
            <a:off x="6492240" y="2587752"/>
            <a:ext cx="4480560" cy="384048"/>
          </a:xfrm>
          <a:prstGeom prst="rect">
            <a:avLst/>
          </a:prstGeom>
          <a:noFill/>
        </p:spPr>
        <p:txBody>
          <a:bodyPr wrap="square" lIns="18288" tIns="18288" rIns="18288" bIns="18288" anchor="t">
            <a:spAutoFit/>
          </a:bodyPr>
          <a:lstStyle/>
          <a:p>
            <a:pPr algn="l"/>
            <a:r>
              <a:rPr sz="1350" b="1">
                <a:solidFill>
                  <a:srgbClr val="1F1B23"/>
                </a:solidFill>
                <a:latin typeface="Aptos"/>
              </a:rPr>
              <a:t>I want to build my presence and grow my career.</a:t>
            </a:r>
          </a:p>
        </p:txBody>
      </p:sp>
      <p:sp>
        <p:nvSpPr>
          <p:cNvPr id="15" name="TextBox 14"/>
          <p:cNvSpPr txBox="1"/>
          <p:nvPr/>
        </p:nvSpPr>
        <p:spPr>
          <a:xfrm>
            <a:off x="6492240" y="3063240"/>
            <a:ext cx="4480560" cy="310896"/>
          </a:xfrm>
          <a:prstGeom prst="rect">
            <a:avLst/>
          </a:prstGeom>
          <a:noFill/>
        </p:spPr>
        <p:txBody>
          <a:bodyPr wrap="square" lIns="18288" tIns="18288" rIns="18288" bIns="18288" anchor="t">
            <a:spAutoFit/>
          </a:bodyPr>
          <a:lstStyle/>
          <a:p>
            <a:pPr algn="l"/>
            <a:r>
              <a:rPr sz="1050" b="0">
                <a:solidFill>
                  <a:srgbClr val="686069"/>
                </a:solidFill>
                <a:latin typeface="Aptos"/>
              </a:rPr>
              <a:t>Profile → Expertise → Community → Jobs / Events</a:t>
            </a:r>
          </a:p>
        </p:txBody>
      </p:sp>
      <p:sp>
        <p:nvSpPr>
          <p:cNvPr id="16" name="Rounded Rectangle 15"/>
          <p:cNvSpPr/>
          <p:nvPr/>
        </p:nvSpPr>
        <p:spPr>
          <a:xfrm>
            <a:off x="640080" y="3977639"/>
            <a:ext cx="5074920" cy="169164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68680" y="4187952"/>
            <a:ext cx="1143000" cy="310896"/>
          </a:xfrm>
          <a:prstGeom prst="roundRect">
            <a:avLst/>
          </a:prstGeom>
          <a:solidFill>
            <a:srgbClr val="EFD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4206240"/>
            <a:ext cx="1143000" cy="256032"/>
          </a:xfrm>
          <a:prstGeom prst="rect">
            <a:avLst/>
          </a:prstGeom>
          <a:noFill/>
        </p:spPr>
        <p:txBody>
          <a:bodyPr wrap="square" lIns="18288" tIns="18288" rIns="18288" bIns="18288" anchor="ctr">
            <a:spAutoFit/>
          </a:bodyPr>
          <a:lstStyle/>
          <a:p>
            <a:pPr algn="ctr"/>
            <a:r>
              <a:rPr sz="900" b="1">
                <a:solidFill>
                  <a:srgbClr val="4A0139"/>
                </a:solidFill>
                <a:latin typeface="Aptos"/>
              </a:rPr>
              <a:t>AN ORGANIZATION</a:t>
            </a:r>
          </a:p>
        </p:txBody>
      </p:sp>
      <p:sp>
        <p:nvSpPr>
          <p:cNvPr id="19" name="TextBox 18"/>
          <p:cNvSpPr txBox="1"/>
          <p:nvPr/>
        </p:nvSpPr>
        <p:spPr>
          <a:xfrm>
            <a:off x="868680" y="4645152"/>
            <a:ext cx="4480560" cy="384048"/>
          </a:xfrm>
          <a:prstGeom prst="rect">
            <a:avLst/>
          </a:prstGeom>
          <a:noFill/>
        </p:spPr>
        <p:txBody>
          <a:bodyPr wrap="square" lIns="18288" tIns="18288" rIns="18288" bIns="18288" anchor="t">
            <a:spAutoFit/>
          </a:bodyPr>
          <a:lstStyle/>
          <a:p>
            <a:pPr algn="l"/>
            <a:r>
              <a:rPr sz="1350" b="1">
                <a:solidFill>
                  <a:srgbClr val="1F1B23"/>
                </a:solidFill>
                <a:latin typeface="Aptos"/>
              </a:rPr>
              <a:t>I want to be discovered and build relationships.</a:t>
            </a:r>
          </a:p>
        </p:txBody>
      </p:sp>
      <p:sp>
        <p:nvSpPr>
          <p:cNvPr id="20" name="TextBox 19"/>
          <p:cNvSpPr txBox="1"/>
          <p:nvPr/>
        </p:nvSpPr>
        <p:spPr>
          <a:xfrm>
            <a:off x="868680" y="5120640"/>
            <a:ext cx="4480560" cy="310896"/>
          </a:xfrm>
          <a:prstGeom prst="rect">
            <a:avLst/>
          </a:prstGeom>
          <a:noFill/>
        </p:spPr>
        <p:txBody>
          <a:bodyPr wrap="square" lIns="18288" tIns="18288" rIns="18288" bIns="18288" anchor="t">
            <a:spAutoFit/>
          </a:bodyPr>
          <a:lstStyle/>
          <a:p>
            <a:pPr algn="l"/>
            <a:r>
              <a:rPr sz="1050" b="0">
                <a:solidFill>
                  <a:srgbClr val="686069"/>
                </a:solidFill>
                <a:latin typeface="Aptos"/>
              </a:rPr>
              <a:t>Organization → Services → Products → Talent / Events</a:t>
            </a:r>
          </a:p>
        </p:txBody>
      </p:sp>
      <p:sp>
        <p:nvSpPr>
          <p:cNvPr id="21" name="Rounded Rectangle 20"/>
          <p:cNvSpPr/>
          <p:nvPr/>
        </p:nvSpPr>
        <p:spPr>
          <a:xfrm>
            <a:off x="6263640" y="3977639"/>
            <a:ext cx="5074920" cy="169164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492240" y="4187952"/>
            <a:ext cx="1143000" cy="310896"/>
          </a:xfrm>
          <a:prstGeom prst="roundRect">
            <a:avLst/>
          </a:prstGeom>
          <a:solidFill>
            <a:srgbClr val="EFD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92240" y="4206240"/>
            <a:ext cx="1143000" cy="256032"/>
          </a:xfrm>
          <a:prstGeom prst="rect">
            <a:avLst/>
          </a:prstGeom>
          <a:noFill/>
        </p:spPr>
        <p:txBody>
          <a:bodyPr wrap="square" lIns="18288" tIns="18288" rIns="18288" bIns="18288" anchor="ctr">
            <a:spAutoFit/>
          </a:bodyPr>
          <a:lstStyle/>
          <a:p>
            <a:pPr algn="ctr"/>
            <a:r>
              <a:rPr sz="900" b="1">
                <a:solidFill>
                  <a:srgbClr val="4A0139"/>
                </a:solidFill>
                <a:latin typeface="Aptos"/>
              </a:rPr>
              <a:t>AN INNOVATOR</a:t>
            </a:r>
          </a:p>
        </p:txBody>
      </p:sp>
      <p:sp>
        <p:nvSpPr>
          <p:cNvPr id="24" name="TextBox 23"/>
          <p:cNvSpPr txBox="1"/>
          <p:nvPr/>
        </p:nvSpPr>
        <p:spPr>
          <a:xfrm>
            <a:off x="6492240" y="4645152"/>
            <a:ext cx="4480560" cy="384048"/>
          </a:xfrm>
          <a:prstGeom prst="rect">
            <a:avLst/>
          </a:prstGeom>
          <a:noFill/>
        </p:spPr>
        <p:txBody>
          <a:bodyPr wrap="square" lIns="18288" tIns="18288" rIns="18288" bIns="18288" anchor="t">
            <a:spAutoFit/>
          </a:bodyPr>
          <a:lstStyle/>
          <a:p>
            <a:pPr algn="l"/>
            <a:r>
              <a:rPr sz="1350" b="1">
                <a:solidFill>
                  <a:srgbClr val="1F1B23"/>
                </a:solidFill>
                <a:latin typeface="Aptos"/>
              </a:rPr>
              <a:t>I want to find people, evidence and opportunities.</a:t>
            </a:r>
          </a:p>
        </p:txBody>
      </p:sp>
      <p:sp>
        <p:nvSpPr>
          <p:cNvPr id="25" name="TextBox 24"/>
          <p:cNvSpPr txBox="1"/>
          <p:nvPr/>
        </p:nvSpPr>
        <p:spPr>
          <a:xfrm>
            <a:off x="6492240" y="5120640"/>
            <a:ext cx="4480560" cy="310896"/>
          </a:xfrm>
          <a:prstGeom prst="rect">
            <a:avLst/>
          </a:prstGeom>
          <a:noFill/>
        </p:spPr>
        <p:txBody>
          <a:bodyPr wrap="square" lIns="18288" tIns="18288" rIns="18288" bIns="18288" anchor="t">
            <a:spAutoFit/>
          </a:bodyPr>
          <a:lstStyle/>
          <a:p>
            <a:pPr algn="l"/>
            <a:r>
              <a:rPr sz="1050" b="0">
                <a:solidFill>
                  <a:srgbClr val="686069"/>
                </a:solidFill>
                <a:latin typeface="Aptos"/>
              </a:rPr>
              <a:t>Research → People → Products → Events / Collaboration</a:t>
            </a:r>
          </a:p>
        </p:txBody>
      </p:sp>
      <p:sp>
        <p:nvSpPr>
          <p:cNvPr id="26" name="TextBox 25"/>
          <p:cNvSpPr txBox="1"/>
          <p:nvPr/>
        </p:nvSpPr>
        <p:spPr>
          <a:xfrm>
            <a:off x="914400" y="5989320"/>
            <a:ext cx="10332720" cy="320040"/>
          </a:xfrm>
          <a:prstGeom prst="rect">
            <a:avLst/>
          </a:prstGeom>
          <a:noFill/>
        </p:spPr>
        <p:txBody>
          <a:bodyPr wrap="square" lIns="18288" tIns="18288" rIns="18288" bIns="18288" anchor="t">
            <a:spAutoFit/>
          </a:bodyPr>
          <a:lstStyle/>
          <a:p>
            <a:pPr algn="ctr"/>
            <a:r>
              <a:rPr sz="1350" b="1">
                <a:solidFill>
                  <a:srgbClr val="4A0139"/>
                </a:solidFill>
                <a:latin typeface="Aptos"/>
              </a:rPr>
              <a:t>The product becomes harder to replace as a user’s identity, relationships and activity accumulate.</a:t>
            </a:r>
          </a:p>
        </p:txBody>
      </p:sp>
      <p:cxnSp>
        <p:nvCxnSpPr>
          <p:cNvPr id="27" name="Connector 26"/>
          <p:cNvCxnSpPr/>
          <p:nvPr/>
        </p:nvCxnSpPr>
        <p:spPr>
          <a:xfrm>
            <a:off x="594360" y="6473952"/>
            <a:ext cx="11000232" cy="0"/>
          </a:xfrm>
          <a:prstGeom prst="line">
            <a:avLst/>
          </a:prstGeom>
          <a:ln w="8890">
            <a:solidFill>
              <a:srgbClr val="E0DBD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94360" y="6519672"/>
            <a:ext cx="1280160" cy="164592"/>
          </a:xfrm>
          <a:prstGeom prst="rect">
            <a:avLst/>
          </a:prstGeom>
          <a:noFill/>
        </p:spPr>
        <p:txBody>
          <a:bodyPr wrap="square" lIns="18288" tIns="18288" rIns="18288" bIns="18288" anchor="t">
            <a:spAutoFit/>
          </a:bodyPr>
          <a:lstStyle/>
          <a:p>
            <a:pPr algn="l"/>
            <a:r>
              <a:rPr sz="850" b="1">
                <a:solidFill>
                  <a:srgbClr val="877F87"/>
                </a:solidFill>
                <a:latin typeface="Aptos"/>
              </a:rPr>
              <a:t>Pentasent</a:t>
            </a:r>
          </a:p>
        </p:txBody>
      </p:sp>
      <p:sp>
        <p:nvSpPr>
          <p:cNvPr id="29" name="TextBox 28"/>
          <p:cNvSpPr txBox="1"/>
          <p:nvPr/>
        </p:nvSpPr>
        <p:spPr>
          <a:xfrm>
            <a:off x="11064240" y="6519672"/>
            <a:ext cx="502920" cy="164592"/>
          </a:xfrm>
          <a:prstGeom prst="rect">
            <a:avLst/>
          </a:prstGeom>
          <a:noFill/>
        </p:spPr>
        <p:txBody>
          <a:bodyPr wrap="square" lIns="18288" tIns="18288" rIns="18288" bIns="18288" anchor="t">
            <a:spAutoFit/>
          </a:bodyPr>
          <a:lstStyle/>
          <a:p>
            <a:pPr algn="r"/>
            <a:r>
              <a:rPr sz="850" b="0">
                <a:solidFill>
                  <a:srgbClr val="877F87"/>
                </a:solidFill>
                <a:latin typeface="Apto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4023360" cy="256032"/>
          </a:xfrm>
          <a:prstGeom prst="rect">
            <a:avLst/>
          </a:prstGeom>
          <a:noFill/>
        </p:spPr>
        <p:txBody>
          <a:bodyPr wrap="square" lIns="18288" tIns="18288" rIns="18288" bIns="18288" anchor="t">
            <a:spAutoFit/>
          </a:bodyPr>
          <a:lstStyle/>
          <a:p>
            <a:pPr algn="l"/>
            <a:r>
              <a:rPr sz="1000" b="1">
                <a:solidFill>
                  <a:srgbClr val="686069"/>
                </a:solidFill>
                <a:latin typeface="Aptos"/>
              </a:rPr>
              <a:t>07  /  WHY NOW</a:t>
            </a:r>
          </a:p>
        </p:txBody>
      </p:sp>
      <p:sp>
        <p:nvSpPr>
          <p:cNvPr id="4" name="TextBox 3"/>
          <p:cNvSpPr txBox="1"/>
          <p:nvPr/>
        </p:nvSpPr>
        <p:spPr>
          <a:xfrm>
            <a:off x="594360" y="713232"/>
            <a:ext cx="10972800" cy="621792"/>
          </a:xfrm>
          <a:prstGeom prst="rect">
            <a:avLst/>
          </a:prstGeom>
          <a:noFill/>
        </p:spPr>
        <p:txBody>
          <a:bodyPr wrap="square" lIns="18288" tIns="18288" rIns="18288" bIns="18288" anchor="t">
            <a:spAutoFit/>
          </a:bodyPr>
          <a:lstStyle/>
          <a:p>
            <a:pPr algn="l"/>
            <a:r>
              <a:rPr sz="2800" b="1">
                <a:solidFill>
                  <a:srgbClr val="1F1B23"/>
                </a:solidFill>
                <a:latin typeface="Aptos"/>
              </a:rPr>
              <a:t>Healthcare is becoming digitally addressable at ecosystem scale.</a:t>
            </a:r>
          </a:p>
        </p:txBody>
      </p:sp>
      <p:sp>
        <p:nvSpPr>
          <p:cNvPr id="5" name="TextBox 4"/>
          <p:cNvSpPr txBox="1"/>
          <p:nvPr/>
        </p:nvSpPr>
        <p:spPr>
          <a:xfrm>
            <a:off x="612648" y="1353312"/>
            <a:ext cx="10789920" cy="244682"/>
          </a:xfrm>
          <a:prstGeom prst="rect">
            <a:avLst/>
          </a:prstGeom>
          <a:noFill/>
        </p:spPr>
        <p:txBody>
          <a:bodyPr wrap="square" lIns="18288" tIns="18288" rIns="18288" bIns="18288" anchor="t">
            <a:spAutoFit/>
          </a:bodyPr>
          <a:lstStyle/>
          <a:p>
            <a:pPr algn="l"/>
            <a:r>
              <a:rPr lang="en-US" sz="1350" b="0" dirty="0">
                <a:solidFill>
                  <a:srgbClr val="686069"/>
                </a:solidFill>
                <a:latin typeface="Aptos"/>
              </a:rPr>
              <a:t>India</a:t>
            </a:r>
            <a:r>
              <a:rPr sz="1350" b="0" dirty="0">
                <a:solidFill>
                  <a:srgbClr val="686069"/>
                </a:solidFill>
                <a:latin typeface="Aptos"/>
              </a:rPr>
              <a:t> is creating the infrastructure, market momentum and behavior for connected digital health.</a:t>
            </a:r>
          </a:p>
        </p:txBody>
      </p:sp>
      <p:sp>
        <p:nvSpPr>
          <p:cNvPr id="6" name="Rounded Rectangle 5"/>
          <p:cNvSpPr/>
          <p:nvPr/>
        </p:nvSpPr>
        <p:spPr>
          <a:xfrm>
            <a:off x="640080" y="2011680"/>
            <a:ext cx="2468880" cy="196596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59" y="2359152"/>
            <a:ext cx="2103120" cy="475488"/>
          </a:xfrm>
          <a:prstGeom prst="rect">
            <a:avLst/>
          </a:prstGeom>
          <a:noFill/>
        </p:spPr>
        <p:txBody>
          <a:bodyPr wrap="square" lIns="18288" tIns="18288" rIns="18288" bIns="18288" anchor="t">
            <a:spAutoFit/>
          </a:bodyPr>
          <a:lstStyle/>
          <a:p>
            <a:pPr algn="ctr"/>
            <a:r>
              <a:rPr sz="2300" b="1">
                <a:solidFill>
                  <a:srgbClr val="4A0139"/>
                </a:solidFill>
                <a:latin typeface="Aptos"/>
              </a:rPr>
              <a:t>86.96 crore</a:t>
            </a:r>
          </a:p>
        </p:txBody>
      </p:sp>
      <p:sp>
        <p:nvSpPr>
          <p:cNvPr id="8" name="TextBox 7"/>
          <p:cNvSpPr txBox="1"/>
          <p:nvPr/>
        </p:nvSpPr>
        <p:spPr>
          <a:xfrm>
            <a:off x="822959" y="2944368"/>
            <a:ext cx="2103120" cy="365760"/>
          </a:xfrm>
          <a:prstGeom prst="rect">
            <a:avLst/>
          </a:prstGeom>
          <a:noFill/>
        </p:spPr>
        <p:txBody>
          <a:bodyPr wrap="square" lIns="18288" tIns="18288" rIns="18288" bIns="18288" anchor="t">
            <a:spAutoFit/>
          </a:bodyPr>
          <a:lstStyle/>
          <a:p>
            <a:pPr algn="ctr"/>
            <a:r>
              <a:rPr sz="1150" b="1">
                <a:solidFill>
                  <a:srgbClr val="1F1B23"/>
                </a:solidFill>
                <a:latin typeface="Aptos"/>
              </a:rPr>
              <a:t>ABHA accounts</a:t>
            </a:r>
          </a:p>
        </p:txBody>
      </p:sp>
      <p:sp>
        <p:nvSpPr>
          <p:cNvPr id="9" name="TextBox 8"/>
          <p:cNvSpPr txBox="1"/>
          <p:nvPr/>
        </p:nvSpPr>
        <p:spPr>
          <a:xfrm>
            <a:off x="822959" y="3429000"/>
            <a:ext cx="2103120" cy="274320"/>
          </a:xfrm>
          <a:prstGeom prst="rect">
            <a:avLst/>
          </a:prstGeom>
          <a:noFill/>
        </p:spPr>
        <p:txBody>
          <a:bodyPr wrap="square" lIns="18288" tIns="18288" rIns="18288" bIns="18288" anchor="t">
            <a:spAutoFit/>
          </a:bodyPr>
          <a:lstStyle/>
          <a:p>
            <a:pPr algn="ctr"/>
            <a:r>
              <a:rPr sz="830" b="0">
                <a:solidFill>
                  <a:srgbClr val="686069"/>
                </a:solidFill>
                <a:latin typeface="Aptos"/>
              </a:rPr>
              <a:t>As of 22 Mar 2026</a:t>
            </a:r>
          </a:p>
        </p:txBody>
      </p:sp>
      <p:sp>
        <p:nvSpPr>
          <p:cNvPr id="10" name="Rounded Rectangle 9"/>
          <p:cNvSpPr/>
          <p:nvPr/>
        </p:nvSpPr>
        <p:spPr>
          <a:xfrm>
            <a:off x="3456432" y="2011680"/>
            <a:ext cx="2468880" cy="196596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39312" y="2359152"/>
            <a:ext cx="2103120" cy="475488"/>
          </a:xfrm>
          <a:prstGeom prst="rect">
            <a:avLst/>
          </a:prstGeom>
          <a:noFill/>
        </p:spPr>
        <p:txBody>
          <a:bodyPr wrap="square" lIns="18288" tIns="18288" rIns="18288" bIns="18288" anchor="t">
            <a:spAutoFit/>
          </a:bodyPr>
          <a:lstStyle/>
          <a:p>
            <a:pPr algn="ctr"/>
            <a:r>
              <a:rPr sz="2300" b="1">
                <a:solidFill>
                  <a:srgbClr val="4A0139"/>
                </a:solidFill>
                <a:latin typeface="Aptos"/>
              </a:rPr>
              <a:t>4.86 lakh</a:t>
            </a:r>
          </a:p>
        </p:txBody>
      </p:sp>
      <p:sp>
        <p:nvSpPr>
          <p:cNvPr id="12" name="TextBox 11"/>
          <p:cNvSpPr txBox="1"/>
          <p:nvPr/>
        </p:nvSpPr>
        <p:spPr>
          <a:xfrm>
            <a:off x="3639312" y="2944368"/>
            <a:ext cx="2103120" cy="365760"/>
          </a:xfrm>
          <a:prstGeom prst="rect">
            <a:avLst/>
          </a:prstGeom>
          <a:noFill/>
        </p:spPr>
        <p:txBody>
          <a:bodyPr wrap="square" lIns="18288" tIns="18288" rIns="18288" bIns="18288" anchor="t">
            <a:spAutoFit/>
          </a:bodyPr>
          <a:lstStyle/>
          <a:p>
            <a:pPr algn="ctr"/>
            <a:r>
              <a:rPr sz="1150" b="1">
                <a:solidFill>
                  <a:srgbClr val="1F1B23"/>
                </a:solidFill>
                <a:latin typeface="Aptos"/>
              </a:rPr>
              <a:t>Health facilities</a:t>
            </a:r>
          </a:p>
        </p:txBody>
      </p:sp>
      <p:sp>
        <p:nvSpPr>
          <p:cNvPr id="13" name="TextBox 12"/>
          <p:cNvSpPr txBox="1"/>
          <p:nvPr/>
        </p:nvSpPr>
        <p:spPr>
          <a:xfrm>
            <a:off x="3639312" y="3429000"/>
            <a:ext cx="2103120" cy="274320"/>
          </a:xfrm>
          <a:prstGeom prst="rect">
            <a:avLst/>
          </a:prstGeom>
          <a:noFill/>
        </p:spPr>
        <p:txBody>
          <a:bodyPr wrap="square" lIns="18288" tIns="18288" rIns="18288" bIns="18288" anchor="t">
            <a:spAutoFit/>
          </a:bodyPr>
          <a:lstStyle/>
          <a:p>
            <a:pPr algn="ctr"/>
            <a:r>
              <a:rPr sz="830" b="0">
                <a:solidFill>
                  <a:srgbClr val="686069"/>
                </a:solidFill>
                <a:latin typeface="Aptos"/>
              </a:rPr>
              <a:t>Registered on HFR</a:t>
            </a:r>
          </a:p>
        </p:txBody>
      </p:sp>
      <p:sp>
        <p:nvSpPr>
          <p:cNvPr id="14" name="Rounded Rectangle 13"/>
          <p:cNvSpPr/>
          <p:nvPr/>
        </p:nvSpPr>
        <p:spPr>
          <a:xfrm>
            <a:off x="6272784" y="2011680"/>
            <a:ext cx="2468880" cy="196596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55664" y="2359152"/>
            <a:ext cx="2103120" cy="475488"/>
          </a:xfrm>
          <a:prstGeom prst="rect">
            <a:avLst/>
          </a:prstGeom>
          <a:noFill/>
        </p:spPr>
        <p:txBody>
          <a:bodyPr wrap="square" lIns="18288" tIns="18288" rIns="18288" bIns="18288" anchor="t">
            <a:spAutoFit/>
          </a:bodyPr>
          <a:lstStyle/>
          <a:p>
            <a:pPr algn="ctr"/>
            <a:r>
              <a:rPr sz="2300" b="1">
                <a:solidFill>
                  <a:srgbClr val="4A0139"/>
                </a:solidFill>
                <a:latin typeface="Aptos"/>
              </a:rPr>
              <a:t>8.35 lakh</a:t>
            </a:r>
          </a:p>
        </p:txBody>
      </p:sp>
      <p:sp>
        <p:nvSpPr>
          <p:cNvPr id="16" name="TextBox 15"/>
          <p:cNvSpPr txBox="1"/>
          <p:nvPr/>
        </p:nvSpPr>
        <p:spPr>
          <a:xfrm>
            <a:off x="6455664" y="2944368"/>
            <a:ext cx="2103120" cy="365760"/>
          </a:xfrm>
          <a:prstGeom prst="rect">
            <a:avLst/>
          </a:prstGeom>
          <a:noFill/>
        </p:spPr>
        <p:txBody>
          <a:bodyPr wrap="square" lIns="18288" tIns="18288" rIns="18288" bIns="18288" anchor="t">
            <a:spAutoFit/>
          </a:bodyPr>
          <a:lstStyle/>
          <a:p>
            <a:pPr algn="ctr"/>
            <a:r>
              <a:rPr sz="1150" b="1">
                <a:solidFill>
                  <a:srgbClr val="1F1B23"/>
                </a:solidFill>
                <a:latin typeface="Aptos"/>
              </a:rPr>
              <a:t>Healthcare professionals</a:t>
            </a:r>
          </a:p>
        </p:txBody>
      </p:sp>
      <p:sp>
        <p:nvSpPr>
          <p:cNvPr id="17" name="TextBox 16"/>
          <p:cNvSpPr txBox="1"/>
          <p:nvPr/>
        </p:nvSpPr>
        <p:spPr>
          <a:xfrm>
            <a:off x="6455664" y="3429000"/>
            <a:ext cx="2103120" cy="274320"/>
          </a:xfrm>
          <a:prstGeom prst="rect">
            <a:avLst/>
          </a:prstGeom>
          <a:noFill/>
        </p:spPr>
        <p:txBody>
          <a:bodyPr wrap="square" lIns="18288" tIns="18288" rIns="18288" bIns="18288" anchor="t">
            <a:spAutoFit/>
          </a:bodyPr>
          <a:lstStyle/>
          <a:p>
            <a:pPr algn="ctr"/>
            <a:r>
              <a:rPr sz="830" b="0">
                <a:solidFill>
                  <a:srgbClr val="686069"/>
                </a:solidFill>
                <a:latin typeface="Aptos"/>
              </a:rPr>
              <a:t>Registered on HPR</a:t>
            </a:r>
          </a:p>
        </p:txBody>
      </p:sp>
      <p:sp>
        <p:nvSpPr>
          <p:cNvPr id="18" name="Rounded Rectangle 17"/>
          <p:cNvSpPr/>
          <p:nvPr/>
        </p:nvSpPr>
        <p:spPr>
          <a:xfrm>
            <a:off x="9089136" y="2011680"/>
            <a:ext cx="2468880" cy="196596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72015" y="2359152"/>
            <a:ext cx="2103120" cy="475488"/>
          </a:xfrm>
          <a:prstGeom prst="rect">
            <a:avLst/>
          </a:prstGeom>
          <a:noFill/>
        </p:spPr>
        <p:txBody>
          <a:bodyPr wrap="square" lIns="18288" tIns="18288" rIns="18288" bIns="18288" anchor="t">
            <a:spAutoFit/>
          </a:bodyPr>
          <a:lstStyle/>
          <a:p>
            <a:pPr algn="ctr"/>
            <a:r>
              <a:rPr sz="2300" b="1">
                <a:solidFill>
                  <a:srgbClr val="4A0139"/>
                </a:solidFill>
                <a:latin typeface="Aptos"/>
              </a:rPr>
              <a:t>$17.81B</a:t>
            </a:r>
          </a:p>
        </p:txBody>
      </p:sp>
      <p:sp>
        <p:nvSpPr>
          <p:cNvPr id="20" name="TextBox 19"/>
          <p:cNvSpPr txBox="1"/>
          <p:nvPr/>
        </p:nvSpPr>
        <p:spPr>
          <a:xfrm>
            <a:off x="9272015" y="2944368"/>
            <a:ext cx="2103120" cy="365760"/>
          </a:xfrm>
          <a:prstGeom prst="rect">
            <a:avLst/>
          </a:prstGeom>
          <a:noFill/>
        </p:spPr>
        <p:txBody>
          <a:bodyPr wrap="square" lIns="18288" tIns="18288" rIns="18288" bIns="18288" anchor="t">
            <a:spAutoFit/>
          </a:bodyPr>
          <a:lstStyle/>
          <a:p>
            <a:pPr algn="ctr"/>
            <a:r>
              <a:rPr sz="1150" b="1">
                <a:solidFill>
                  <a:srgbClr val="1F1B23"/>
                </a:solidFill>
                <a:latin typeface="Aptos"/>
              </a:rPr>
              <a:t>India digital health</a:t>
            </a:r>
          </a:p>
        </p:txBody>
      </p:sp>
      <p:sp>
        <p:nvSpPr>
          <p:cNvPr id="21" name="TextBox 20"/>
          <p:cNvSpPr txBox="1"/>
          <p:nvPr/>
        </p:nvSpPr>
        <p:spPr>
          <a:xfrm>
            <a:off x="9272015" y="3429000"/>
            <a:ext cx="2103120" cy="274320"/>
          </a:xfrm>
          <a:prstGeom prst="rect">
            <a:avLst/>
          </a:prstGeom>
          <a:noFill/>
        </p:spPr>
        <p:txBody>
          <a:bodyPr wrap="square" lIns="18288" tIns="18288" rIns="18288" bIns="18288" anchor="t">
            <a:spAutoFit/>
          </a:bodyPr>
          <a:lstStyle/>
          <a:p>
            <a:pPr algn="ctr"/>
            <a:r>
              <a:rPr sz="830" b="0">
                <a:solidFill>
                  <a:srgbClr val="686069"/>
                </a:solidFill>
                <a:latin typeface="Aptos"/>
              </a:rPr>
              <a:t>Estimated 2025 market</a:t>
            </a:r>
          </a:p>
        </p:txBody>
      </p:sp>
      <p:sp>
        <p:nvSpPr>
          <p:cNvPr id="22" name="TextBox 21"/>
          <p:cNvSpPr txBox="1"/>
          <p:nvPr/>
        </p:nvSpPr>
        <p:spPr>
          <a:xfrm>
            <a:off x="822960" y="4434840"/>
            <a:ext cx="10607040" cy="457200"/>
          </a:xfrm>
          <a:prstGeom prst="rect">
            <a:avLst/>
          </a:prstGeom>
          <a:noFill/>
        </p:spPr>
        <p:txBody>
          <a:bodyPr wrap="square" lIns="18288" tIns="18288" rIns="18288" bIns="18288" anchor="t">
            <a:spAutoFit/>
          </a:bodyPr>
          <a:lstStyle/>
          <a:p>
            <a:pPr algn="ctr"/>
            <a:r>
              <a:rPr sz="1700" b="1">
                <a:solidFill>
                  <a:srgbClr val="1F1B23"/>
                </a:solidFill>
                <a:latin typeface="Aptos"/>
              </a:rPr>
              <a:t>ABDM is explicitly building an integrated, citizen-centric digital health ecosystem.</a:t>
            </a:r>
          </a:p>
        </p:txBody>
      </p:sp>
      <p:sp>
        <p:nvSpPr>
          <p:cNvPr id="23" name="TextBox 22"/>
          <p:cNvSpPr txBox="1"/>
          <p:nvPr/>
        </p:nvSpPr>
        <p:spPr>
          <a:xfrm>
            <a:off x="914400" y="4983480"/>
            <a:ext cx="10332720" cy="411480"/>
          </a:xfrm>
          <a:prstGeom prst="rect">
            <a:avLst/>
          </a:prstGeom>
          <a:noFill/>
        </p:spPr>
        <p:txBody>
          <a:bodyPr wrap="square" lIns="18288" tIns="18288" rIns="18288" bIns="18288" anchor="t">
            <a:spAutoFit/>
          </a:bodyPr>
          <a:lstStyle/>
          <a:p>
            <a:pPr algn="ctr"/>
            <a:r>
              <a:rPr sz="1350" b="0">
                <a:solidFill>
                  <a:srgbClr val="686069"/>
                </a:solidFill>
                <a:latin typeface="Aptos"/>
              </a:rPr>
              <a:t>Pentasent is building the discovery, participation and relationship layer around that infrastructure.</a:t>
            </a:r>
          </a:p>
        </p:txBody>
      </p:sp>
      <p:cxnSp>
        <p:nvCxnSpPr>
          <p:cNvPr id="24" name="Connector 23"/>
          <p:cNvCxnSpPr/>
          <p:nvPr/>
        </p:nvCxnSpPr>
        <p:spPr>
          <a:xfrm>
            <a:off x="594360" y="6473952"/>
            <a:ext cx="11000232" cy="0"/>
          </a:xfrm>
          <a:prstGeom prst="line">
            <a:avLst/>
          </a:prstGeom>
          <a:ln w="8890">
            <a:solidFill>
              <a:srgbClr val="E0DBD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94360" y="6519672"/>
            <a:ext cx="1280160" cy="164592"/>
          </a:xfrm>
          <a:prstGeom prst="rect">
            <a:avLst/>
          </a:prstGeom>
          <a:noFill/>
        </p:spPr>
        <p:txBody>
          <a:bodyPr wrap="square" lIns="18288" tIns="18288" rIns="18288" bIns="18288" anchor="t">
            <a:spAutoFit/>
          </a:bodyPr>
          <a:lstStyle/>
          <a:p>
            <a:pPr algn="l"/>
            <a:r>
              <a:rPr sz="850" b="1">
                <a:solidFill>
                  <a:srgbClr val="877F87"/>
                </a:solidFill>
                <a:latin typeface="Aptos"/>
              </a:rPr>
              <a:t>Pentasent</a:t>
            </a:r>
          </a:p>
        </p:txBody>
      </p:sp>
      <p:sp>
        <p:nvSpPr>
          <p:cNvPr id="26" name="TextBox 25"/>
          <p:cNvSpPr txBox="1"/>
          <p:nvPr/>
        </p:nvSpPr>
        <p:spPr>
          <a:xfrm>
            <a:off x="11064240" y="6519672"/>
            <a:ext cx="502920" cy="164592"/>
          </a:xfrm>
          <a:prstGeom prst="rect">
            <a:avLst/>
          </a:prstGeom>
          <a:noFill/>
        </p:spPr>
        <p:txBody>
          <a:bodyPr wrap="square" lIns="18288" tIns="18288" rIns="18288" bIns="18288" anchor="t">
            <a:spAutoFit/>
          </a:bodyPr>
          <a:lstStyle/>
          <a:p>
            <a:pPr algn="r"/>
            <a:r>
              <a:rPr sz="850" b="0">
                <a:solidFill>
                  <a:srgbClr val="877F87"/>
                </a:solidFill>
                <a:latin typeface="Aptos"/>
              </a:rPr>
              <a:t>7</a:t>
            </a:r>
          </a:p>
        </p:txBody>
      </p:sp>
      <p:sp>
        <p:nvSpPr>
          <p:cNvPr id="27" name="TextBox 26"/>
          <p:cNvSpPr txBox="1"/>
          <p:nvPr/>
        </p:nvSpPr>
        <p:spPr>
          <a:xfrm>
            <a:off x="2743200" y="6501384"/>
            <a:ext cx="6949440" cy="182880"/>
          </a:xfrm>
          <a:prstGeom prst="rect">
            <a:avLst/>
          </a:prstGeom>
          <a:noFill/>
        </p:spPr>
        <p:txBody>
          <a:bodyPr wrap="square" lIns="18288" tIns="18288" rIns="18288" bIns="18288" anchor="t">
            <a:spAutoFit/>
          </a:bodyPr>
          <a:lstStyle/>
          <a:p>
            <a:pPr algn="ctr"/>
            <a:r>
              <a:rPr sz="750" b="0">
                <a:solidFill>
                  <a:srgbClr val="877F87"/>
                </a:solidFill>
                <a:latin typeface="Aptos"/>
              </a:rPr>
              <a:t>Sources: Government of India / ABDM (22 Mar 2026); Grand View Research (India Digital Health, 2025 estimate)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4023360" cy="256032"/>
          </a:xfrm>
          <a:prstGeom prst="rect">
            <a:avLst/>
          </a:prstGeom>
          <a:noFill/>
        </p:spPr>
        <p:txBody>
          <a:bodyPr wrap="square" lIns="18288" tIns="18288" rIns="18288" bIns="18288" anchor="t">
            <a:spAutoFit/>
          </a:bodyPr>
          <a:lstStyle/>
          <a:p>
            <a:pPr algn="l"/>
            <a:r>
              <a:rPr sz="1000" b="1">
                <a:solidFill>
                  <a:srgbClr val="686069"/>
                </a:solidFill>
                <a:latin typeface="Aptos"/>
              </a:rPr>
              <a:t>08  /  BUSINESS MODEL</a:t>
            </a:r>
          </a:p>
        </p:txBody>
      </p:sp>
      <p:sp>
        <p:nvSpPr>
          <p:cNvPr id="4" name="TextBox 3"/>
          <p:cNvSpPr txBox="1"/>
          <p:nvPr/>
        </p:nvSpPr>
        <p:spPr>
          <a:xfrm>
            <a:off x="594360" y="713232"/>
            <a:ext cx="10972800" cy="621792"/>
          </a:xfrm>
          <a:prstGeom prst="rect">
            <a:avLst/>
          </a:prstGeom>
          <a:noFill/>
        </p:spPr>
        <p:txBody>
          <a:bodyPr wrap="square" lIns="18288" tIns="18288" rIns="18288" bIns="18288" anchor="t">
            <a:spAutoFit/>
          </a:bodyPr>
          <a:lstStyle/>
          <a:p>
            <a:pPr algn="l"/>
            <a:r>
              <a:rPr sz="2800" b="1">
                <a:solidFill>
                  <a:srgbClr val="1F1B23"/>
                </a:solidFill>
                <a:latin typeface="Aptos"/>
              </a:rPr>
              <a:t>Multiple revenue streams. One compounding ecosystem.</a:t>
            </a:r>
          </a:p>
        </p:txBody>
      </p:sp>
      <p:sp>
        <p:nvSpPr>
          <p:cNvPr id="5" name="TextBox 4"/>
          <p:cNvSpPr txBox="1"/>
          <p:nvPr/>
        </p:nvSpPr>
        <p:spPr>
          <a:xfrm>
            <a:off x="612648" y="1353312"/>
            <a:ext cx="10789920" cy="438912"/>
          </a:xfrm>
          <a:prstGeom prst="rect">
            <a:avLst/>
          </a:prstGeom>
          <a:noFill/>
        </p:spPr>
        <p:txBody>
          <a:bodyPr wrap="square" lIns="18288" tIns="18288" rIns="18288" bIns="18288" anchor="t">
            <a:spAutoFit/>
          </a:bodyPr>
          <a:lstStyle/>
          <a:p>
            <a:pPr algn="l"/>
            <a:r>
              <a:rPr sz="1350" b="0">
                <a:solidFill>
                  <a:srgbClr val="686069"/>
                </a:solidFill>
                <a:latin typeface="Aptos"/>
              </a:rPr>
              <a:t>Monetization follows the value Pentasent creates for each participant.</a:t>
            </a:r>
          </a:p>
        </p:txBody>
      </p:sp>
      <p:sp>
        <p:nvSpPr>
          <p:cNvPr id="6" name="Oval 5"/>
          <p:cNvSpPr/>
          <p:nvPr/>
        </p:nvSpPr>
        <p:spPr>
          <a:xfrm>
            <a:off x="713232" y="2039112"/>
            <a:ext cx="274320" cy="274320"/>
          </a:xfrm>
          <a:prstGeom prst="ellipse">
            <a:avLst/>
          </a:prstGeom>
          <a:solidFill>
            <a:srgbClr val="4A0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70432" y="1965960"/>
            <a:ext cx="1920240" cy="292608"/>
          </a:xfrm>
          <a:prstGeom prst="rect">
            <a:avLst/>
          </a:prstGeom>
          <a:noFill/>
        </p:spPr>
        <p:txBody>
          <a:bodyPr wrap="square" lIns="18288" tIns="18288" rIns="18288" bIns="18288" anchor="t">
            <a:spAutoFit/>
          </a:bodyPr>
          <a:lstStyle/>
          <a:p>
            <a:pPr algn="l"/>
            <a:r>
              <a:rPr sz="1300" b="1">
                <a:solidFill>
                  <a:srgbClr val="1F1B23"/>
                </a:solidFill>
                <a:latin typeface="Aptos"/>
              </a:rPr>
              <a:t>Organizations</a:t>
            </a:r>
          </a:p>
        </p:txBody>
      </p:sp>
      <p:sp>
        <p:nvSpPr>
          <p:cNvPr id="8" name="TextBox 7"/>
          <p:cNvSpPr txBox="1"/>
          <p:nvPr/>
        </p:nvSpPr>
        <p:spPr>
          <a:xfrm>
            <a:off x="2971800" y="1938527"/>
            <a:ext cx="8046720" cy="438912"/>
          </a:xfrm>
          <a:prstGeom prst="rect">
            <a:avLst/>
          </a:prstGeom>
          <a:noFill/>
        </p:spPr>
        <p:txBody>
          <a:bodyPr wrap="square" lIns="18288" tIns="18288" rIns="18288" bIns="18288" anchor="t">
            <a:spAutoFit/>
          </a:bodyPr>
          <a:lstStyle/>
          <a:p>
            <a:pPr algn="l"/>
            <a:r>
              <a:rPr sz="1080" b="0">
                <a:solidFill>
                  <a:srgbClr val="686069"/>
                </a:solidFill>
                <a:latin typeface="Aptos"/>
              </a:rPr>
              <a:t>Paid presence, enhanced profiles, team/roster tools, lead generation &amp; integrations</a:t>
            </a:r>
          </a:p>
        </p:txBody>
      </p:sp>
      <p:sp>
        <p:nvSpPr>
          <p:cNvPr id="9" name="Oval 8"/>
          <p:cNvSpPr/>
          <p:nvPr/>
        </p:nvSpPr>
        <p:spPr>
          <a:xfrm>
            <a:off x="713232" y="2862072"/>
            <a:ext cx="274320" cy="274320"/>
          </a:xfrm>
          <a:prstGeom prst="ellipse">
            <a:avLst/>
          </a:prstGeom>
          <a:solidFill>
            <a:srgbClr val="594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70432" y="2788920"/>
            <a:ext cx="1920240" cy="292608"/>
          </a:xfrm>
          <a:prstGeom prst="rect">
            <a:avLst/>
          </a:prstGeom>
          <a:noFill/>
        </p:spPr>
        <p:txBody>
          <a:bodyPr wrap="square" lIns="18288" tIns="18288" rIns="18288" bIns="18288" anchor="t">
            <a:spAutoFit/>
          </a:bodyPr>
          <a:lstStyle/>
          <a:p>
            <a:pPr algn="l"/>
            <a:r>
              <a:rPr sz="1300" b="1">
                <a:solidFill>
                  <a:srgbClr val="1F1B23"/>
                </a:solidFill>
                <a:latin typeface="Aptos"/>
              </a:rPr>
              <a:t>Professionals</a:t>
            </a:r>
          </a:p>
        </p:txBody>
      </p:sp>
      <p:sp>
        <p:nvSpPr>
          <p:cNvPr id="11" name="TextBox 10"/>
          <p:cNvSpPr txBox="1"/>
          <p:nvPr/>
        </p:nvSpPr>
        <p:spPr>
          <a:xfrm>
            <a:off x="2971800" y="2761487"/>
            <a:ext cx="8046720" cy="438912"/>
          </a:xfrm>
          <a:prstGeom prst="rect">
            <a:avLst/>
          </a:prstGeom>
          <a:noFill/>
        </p:spPr>
        <p:txBody>
          <a:bodyPr wrap="square" lIns="18288" tIns="18288" rIns="18288" bIns="18288" anchor="t">
            <a:spAutoFit/>
          </a:bodyPr>
          <a:lstStyle/>
          <a:p>
            <a:pPr algn="l"/>
            <a:r>
              <a:rPr sz="1080" b="0">
                <a:solidFill>
                  <a:srgbClr val="686069"/>
                </a:solidFill>
                <a:latin typeface="Aptos"/>
              </a:rPr>
              <a:t>Premium profiles, discovery, career and professional tools</a:t>
            </a:r>
          </a:p>
        </p:txBody>
      </p:sp>
      <p:sp>
        <p:nvSpPr>
          <p:cNvPr id="12" name="Oval 11"/>
          <p:cNvSpPr/>
          <p:nvPr/>
        </p:nvSpPr>
        <p:spPr>
          <a:xfrm>
            <a:off x="713232" y="3685031"/>
            <a:ext cx="274320" cy="274320"/>
          </a:xfrm>
          <a:prstGeom prst="ellipse">
            <a:avLst/>
          </a:prstGeom>
          <a:solidFill>
            <a:srgbClr val="AE3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70432" y="3611879"/>
            <a:ext cx="1920240" cy="292608"/>
          </a:xfrm>
          <a:prstGeom prst="rect">
            <a:avLst/>
          </a:prstGeom>
          <a:noFill/>
        </p:spPr>
        <p:txBody>
          <a:bodyPr wrap="square" lIns="18288" tIns="18288" rIns="18288" bIns="18288" anchor="t">
            <a:spAutoFit/>
          </a:bodyPr>
          <a:lstStyle/>
          <a:p>
            <a:pPr algn="l"/>
            <a:r>
              <a:rPr sz="1300" b="1">
                <a:solidFill>
                  <a:srgbClr val="1F1B23"/>
                </a:solidFill>
                <a:latin typeface="Aptos"/>
              </a:rPr>
              <a:t>Products</a:t>
            </a:r>
          </a:p>
        </p:txBody>
      </p:sp>
      <p:sp>
        <p:nvSpPr>
          <p:cNvPr id="14" name="TextBox 13"/>
          <p:cNvSpPr txBox="1"/>
          <p:nvPr/>
        </p:nvSpPr>
        <p:spPr>
          <a:xfrm>
            <a:off x="2971800" y="3584447"/>
            <a:ext cx="8046720" cy="438912"/>
          </a:xfrm>
          <a:prstGeom prst="rect">
            <a:avLst/>
          </a:prstGeom>
          <a:noFill/>
        </p:spPr>
        <p:txBody>
          <a:bodyPr wrap="square" lIns="18288" tIns="18288" rIns="18288" bIns="18288" anchor="t">
            <a:spAutoFit/>
          </a:bodyPr>
          <a:lstStyle/>
          <a:p>
            <a:pPr algn="l"/>
            <a:r>
              <a:rPr sz="1080" b="0">
                <a:solidFill>
                  <a:srgbClr val="686069"/>
                </a:solidFill>
                <a:latin typeface="Aptos"/>
              </a:rPr>
              <a:t>Sponsored discovery, launches and category promotion</a:t>
            </a:r>
          </a:p>
        </p:txBody>
      </p:sp>
      <p:sp>
        <p:nvSpPr>
          <p:cNvPr id="15" name="Oval 14"/>
          <p:cNvSpPr/>
          <p:nvPr/>
        </p:nvSpPr>
        <p:spPr>
          <a:xfrm>
            <a:off x="713232" y="4507992"/>
            <a:ext cx="274320" cy="274320"/>
          </a:xfrm>
          <a:prstGeom prst="ellipse">
            <a:avLst/>
          </a:prstGeom>
          <a:solidFill>
            <a:srgbClr val="277E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70432" y="4434840"/>
            <a:ext cx="1920240" cy="292608"/>
          </a:xfrm>
          <a:prstGeom prst="rect">
            <a:avLst/>
          </a:prstGeom>
          <a:noFill/>
        </p:spPr>
        <p:txBody>
          <a:bodyPr wrap="square" lIns="18288" tIns="18288" rIns="18288" bIns="18288" anchor="t">
            <a:spAutoFit/>
          </a:bodyPr>
          <a:lstStyle/>
          <a:p>
            <a:pPr algn="l"/>
            <a:r>
              <a:rPr sz="1300" b="1">
                <a:solidFill>
                  <a:srgbClr val="1F1B23"/>
                </a:solidFill>
                <a:latin typeface="Aptos"/>
              </a:rPr>
              <a:t>Communities &amp; events</a:t>
            </a:r>
          </a:p>
        </p:txBody>
      </p:sp>
      <p:sp>
        <p:nvSpPr>
          <p:cNvPr id="17" name="TextBox 16"/>
          <p:cNvSpPr txBox="1"/>
          <p:nvPr/>
        </p:nvSpPr>
        <p:spPr>
          <a:xfrm>
            <a:off x="2971800" y="4407408"/>
            <a:ext cx="8046720" cy="438912"/>
          </a:xfrm>
          <a:prstGeom prst="rect">
            <a:avLst/>
          </a:prstGeom>
          <a:noFill/>
        </p:spPr>
        <p:txBody>
          <a:bodyPr wrap="square" lIns="18288" tIns="18288" rIns="18288" bIns="18288" anchor="t">
            <a:spAutoFit/>
          </a:bodyPr>
          <a:lstStyle/>
          <a:p>
            <a:pPr algn="l"/>
            <a:r>
              <a:rPr sz="1080" b="0">
                <a:solidFill>
                  <a:srgbClr val="686069"/>
                </a:solidFill>
                <a:latin typeface="Aptos"/>
              </a:rPr>
              <a:t>Paid community capabilities, event promotion and ecosystem programs</a:t>
            </a:r>
          </a:p>
        </p:txBody>
      </p:sp>
      <p:sp>
        <p:nvSpPr>
          <p:cNvPr id="18" name="Oval 17"/>
          <p:cNvSpPr/>
          <p:nvPr/>
        </p:nvSpPr>
        <p:spPr>
          <a:xfrm>
            <a:off x="713232" y="5330952"/>
            <a:ext cx="274320" cy="274320"/>
          </a:xfrm>
          <a:prstGeom prst="ellipse">
            <a:avLst/>
          </a:prstGeom>
          <a:solidFill>
            <a:srgbClr val="B97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70432" y="5257800"/>
            <a:ext cx="1920240" cy="292608"/>
          </a:xfrm>
          <a:prstGeom prst="rect">
            <a:avLst/>
          </a:prstGeom>
          <a:noFill/>
        </p:spPr>
        <p:txBody>
          <a:bodyPr wrap="square" lIns="18288" tIns="18288" rIns="18288" bIns="18288" anchor="t">
            <a:spAutoFit/>
          </a:bodyPr>
          <a:lstStyle/>
          <a:p>
            <a:pPr algn="l"/>
            <a:r>
              <a:rPr sz="1300" b="1">
                <a:solidFill>
                  <a:srgbClr val="1F1B23"/>
                </a:solidFill>
                <a:latin typeface="Aptos"/>
              </a:rPr>
              <a:t>Data &amp; infrastructure</a:t>
            </a:r>
          </a:p>
        </p:txBody>
      </p:sp>
      <p:sp>
        <p:nvSpPr>
          <p:cNvPr id="20" name="TextBox 19"/>
          <p:cNvSpPr txBox="1"/>
          <p:nvPr/>
        </p:nvSpPr>
        <p:spPr>
          <a:xfrm>
            <a:off x="2971800" y="5230368"/>
            <a:ext cx="8046720" cy="438912"/>
          </a:xfrm>
          <a:prstGeom prst="rect">
            <a:avLst/>
          </a:prstGeom>
          <a:noFill/>
        </p:spPr>
        <p:txBody>
          <a:bodyPr wrap="square" lIns="18288" tIns="18288" rIns="18288" bIns="18288" anchor="t">
            <a:spAutoFit/>
          </a:bodyPr>
          <a:lstStyle/>
          <a:p>
            <a:pPr algn="l"/>
            <a:r>
              <a:rPr sz="1080" b="0">
                <a:solidFill>
                  <a:srgbClr val="686069"/>
                </a:solidFill>
                <a:latin typeface="Aptos"/>
              </a:rPr>
              <a:t>Future analytics, ecosystem intelligence and integrations—subject to privacy &amp; compliance</a:t>
            </a:r>
          </a:p>
        </p:txBody>
      </p:sp>
      <p:sp>
        <p:nvSpPr>
          <p:cNvPr id="21" name="TextBox 20"/>
          <p:cNvSpPr txBox="1"/>
          <p:nvPr/>
        </p:nvSpPr>
        <p:spPr>
          <a:xfrm>
            <a:off x="914400" y="6053328"/>
            <a:ext cx="10332720" cy="292608"/>
          </a:xfrm>
          <a:prstGeom prst="rect">
            <a:avLst/>
          </a:prstGeom>
          <a:noFill/>
        </p:spPr>
        <p:txBody>
          <a:bodyPr wrap="square" lIns="18288" tIns="18288" rIns="18288" bIns="18288" anchor="t">
            <a:spAutoFit/>
          </a:bodyPr>
          <a:lstStyle/>
          <a:p>
            <a:pPr algn="ctr"/>
            <a:r>
              <a:rPr sz="1250" b="1">
                <a:solidFill>
                  <a:srgbClr val="4A0139"/>
                </a:solidFill>
                <a:latin typeface="Aptos"/>
              </a:rPr>
              <a:t>Initial monetization focus: organizations + professional profiles + sponsored ecosystem discovery.</a:t>
            </a:r>
          </a:p>
        </p:txBody>
      </p:sp>
      <p:cxnSp>
        <p:nvCxnSpPr>
          <p:cNvPr id="22" name="Connector 21"/>
          <p:cNvCxnSpPr/>
          <p:nvPr/>
        </p:nvCxnSpPr>
        <p:spPr>
          <a:xfrm>
            <a:off x="594360" y="6473952"/>
            <a:ext cx="11000232" cy="0"/>
          </a:xfrm>
          <a:prstGeom prst="line">
            <a:avLst/>
          </a:prstGeom>
          <a:ln w="8890">
            <a:solidFill>
              <a:srgbClr val="E0DBD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94360" y="6519672"/>
            <a:ext cx="1280160" cy="164592"/>
          </a:xfrm>
          <a:prstGeom prst="rect">
            <a:avLst/>
          </a:prstGeom>
          <a:noFill/>
        </p:spPr>
        <p:txBody>
          <a:bodyPr wrap="square" lIns="18288" tIns="18288" rIns="18288" bIns="18288" anchor="t">
            <a:spAutoFit/>
          </a:bodyPr>
          <a:lstStyle/>
          <a:p>
            <a:pPr algn="l"/>
            <a:r>
              <a:rPr sz="850" b="1">
                <a:solidFill>
                  <a:srgbClr val="877F87"/>
                </a:solidFill>
                <a:latin typeface="Aptos"/>
              </a:rPr>
              <a:t>Pentasent</a:t>
            </a:r>
          </a:p>
        </p:txBody>
      </p:sp>
      <p:sp>
        <p:nvSpPr>
          <p:cNvPr id="24" name="TextBox 23"/>
          <p:cNvSpPr txBox="1"/>
          <p:nvPr/>
        </p:nvSpPr>
        <p:spPr>
          <a:xfrm>
            <a:off x="11064240" y="6519672"/>
            <a:ext cx="502920" cy="164592"/>
          </a:xfrm>
          <a:prstGeom prst="rect">
            <a:avLst/>
          </a:prstGeom>
          <a:noFill/>
        </p:spPr>
        <p:txBody>
          <a:bodyPr wrap="square" lIns="18288" tIns="18288" rIns="18288" bIns="18288" anchor="t">
            <a:spAutoFit/>
          </a:bodyPr>
          <a:lstStyle/>
          <a:p>
            <a:pPr algn="r"/>
            <a:r>
              <a:rPr sz="850" b="0">
                <a:solidFill>
                  <a:srgbClr val="877F87"/>
                </a:solidFill>
                <a:latin typeface="Apto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4023360" cy="256032"/>
          </a:xfrm>
          <a:prstGeom prst="rect">
            <a:avLst/>
          </a:prstGeom>
          <a:noFill/>
        </p:spPr>
        <p:txBody>
          <a:bodyPr wrap="square" lIns="18288" tIns="18288" rIns="18288" bIns="18288" anchor="t">
            <a:spAutoFit/>
          </a:bodyPr>
          <a:lstStyle/>
          <a:p>
            <a:pPr algn="l"/>
            <a:r>
              <a:rPr sz="1000" b="1">
                <a:solidFill>
                  <a:srgbClr val="686069"/>
                </a:solidFill>
                <a:latin typeface="Aptos"/>
              </a:rPr>
              <a:t>09  /  GO-TO-MARKET</a:t>
            </a:r>
          </a:p>
        </p:txBody>
      </p:sp>
      <p:sp>
        <p:nvSpPr>
          <p:cNvPr id="4" name="TextBox 3"/>
          <p:cNvSpPr txBox="1"/>
          <p:nvPr/>
        </p:nvSpPr>
        <p:spPr>
          <a:xfrm>
            <a:off x="594360" y="713232"/>
            <a:ext cx="10972800" cy="621792"/>
          </a:xfrm>
          <a:prstGeom prst="rect">
            <a:avLst/>
          </a:prstGeom>
          <a:noFill/>
        </p:spPr>
        <p:txBody>
          <a:bodyPr wrap="square" lIns="18288" tIns="18288" rIns="18288" bIns="18288" anchor="t">
            <a:spAutoFit/>
          </a:bodyPr>
          <a:lstStyle/>
          <a:p>
            <a:pPr algn="l"/>
            <a:r>
              <a:rPr sz="2800" b="1">
                <a:solidFill>
                  <a:srgbClr val="1F1B23"/>
                </a:solidFill>
                <a:latin typeface="Aptos"/>
              </a:rPr>
              <a:t>Build supply first. Let network density pull demand.</a:t>
            </a:r>
          </a:p>
        </p:txBody>
      </p:sp>
      <p:sp>
        <p:nvSpPr>
          <p:cNvPr id="5" name="TextBox 4"/>
          <p:cNvSpPr txBox="1"/>
          <p:nvPr/>
        </p:nvSpPr>
        <p:spPr>
          <a:xfrm>
            <a:off x="612648" y="1353312"/>
            <a:ext cx="10789920" cy="438912"/>
          </a:xfrm>
          <a:prstGeom prst="rect">
            <a:avLst/>
          </a:prstGeom>
          <a:noFill/>
        </p:spPr>
        <p:txBody>
          <a:bodyPr wrap="square" lIns="18288" tIns="18288" rIns="18288" bIns="18288" anchor="t">
            <a:spAutoFit/>
          </a:bodyPr>
          <a:lstStyle/>
          <a:p>
            <a:pPr algn="l"/>
            <a:r>
              <a:rPr sz="1350" b="0">
                <a:solidFill>
                  <a:srgbClr val="686069"/>
                </a:solidFill>
                <a:latin typeface="Aptos"/>
              </a:rPr>
              <a:t>The initial wedge is healthcare professionals and organizations, where identity and discovery have immediate value.</a:t>
            </a:r>
          </a:p>
        </p:txBody>
      </p:sp>
      <p:sp>
        <p:nvSpPr>
          <p:cNvPr id="6" name="Rounded Rectangle 5"/>
          <p:cNvSpPr/>
          <p:nvPr/>
        </p:nvSpPr>
        <p:spPr>
          <a:xfrm>
            <a:off x="640080" y="1965960"/>
            <a:ext cx="2468880" cy="306324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68680" y="2240280"/>
            <a:ext cx="384048" cy="384048"/>
          </a:xfrm>
          <a:prstGeom prst="ellipse">
            <a:avLst/>
          </a:prstGeom>
          <a:solidFill>
            <a:srgbClr val="4A0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286000"/>
            <a:ext cx="384048" cy="228600"/>
          </a:xfrm>
          <a:prstGeom prst="rect">
            <a:avLst/>
          </a:prstGeom>
          <a:noFill/>
        </p:spPr>
        <p:txBody>
          <a:bodyPr wrap="square" lIns="18288" tIns="18288" rIns="18288" bIns="18288" anchor="t">
            <a:spAutoFit/>
          </a:bodyPr>
          <a:lstStyle/>
          <a:p>
            <a:pPr algn="ctr"/>
            <a:r>
              <a:rPr sz="1100" b="1">
                <a:solidFill>
                  <a:srgbClr val="FFFFFF"/>
                </a:solidFill>
                <a:latin typeface="Aptos"/>
              </a:rPr>
              <a:t>1</a:t>
            </a:r>
          </a:p>
        </p:txBody>
      </p:sp>
      <p:sp>
        <p:nvSpPr>
          <p:cNvPr id="9" name="TextBox 8"/>
          <p:cNvSpPr txBox="1"/>
          <p:nvPr/>
        </p:nvSpPr>
        <p:spPr>
          <a:xfrm>
            <a:off x="868680" y="2834640"/>
            <a:ext cx="1965960" cy="502920"/>
          </a:xfrm>
          <a:prstGeom prst="rect">
            <a:avLst/>
          </a:prstGeom>
          <a:noFill/>
        </p:spPr>
        <p:txBody>
          <a:bodyPr wrap="square" lIns="18288" tIns="18288" rIns="18288" bIns="18288" anchor="t">
            <a:spAutoFit/>
          </a:bodyPr>
          <a:lstStyle/>
          <a:p>
            <a:pPr algn="l"/>
            <a:r>
              <a:rPr sz="1400" b="1">
                <a:solidFill>
                  <a:srgbClr val="1F1B23"/>
                </a:solidFill>
                <a:latin typeface="Aptos"/>
              </a:rPr>
              <a:t>Seed trusted supply</a:t>
            </a:r>
          </a:p>
        </p:txBody>
      </p:sp>
      <p:sp>
        <p:nvSpPr>
          <p:cNvPr id="10" name="TextBox 9"/>
          <p:cNvSpPr txBox="1"/>
          <p:nvPr/>
        </p:nvSpPr>
        <p:spPr>
          <a:xfrm>
            <a:off x="868680" y="3566160"/>
            <a:ext cx="1965960" cy="1051560"/>
          </a:xfrm>
          <a:prstGeom prst="rect">
            <a:avLst/>
          </a:prstGeom>
          <a:noFill/>
        </p:spPr>
        <p:txBody>
          <a:bodyPr wrap="square" lIns="18288" tIns="18288" rIns="18288" bIns="18288" anchor="t">
            <a:spAutoFit/>
          </a:bodyPr>
          <a:lstStyle/>
          <a:p>
            <a:pPr algn="l"/>
            <a:r>
              <a:rPr sz="1030" b="0">
                <a:solidFill>
                  <a:srgbClr val="686069"/>
                </a:solidFill>
                <a:latin typeface="Aptos"/>
              </a:rPr>
              <a:t>Recruit professionals, clinics, hospitals, organizations and healthcare communities.</a:t>
            </a:r>
          </a:p>
        </p:txBody>
      </p:sp>
      <p:sp>
        <p:nvSpPr>
          <p:cNvPr id="11" name="Rounded Rectangle 10"/>
          <p:cNvSpPr/>
          <p:nvPr/>
        </p:nvSpPr>
        <p:spPr>
          <a:xfrm>
            <a:off x="3456432" y="1965960"/>
            <a:ext cx="2468880" cy="306324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685032" y="2240280"/>
            <a:ext cx="384048" cy="384048"/>
          </a:xfrm>
          <a:prstGeom prst="ellipse">
            <a:avLst/>
          </a:prstGeom>
          <a:solidFill>
            <a:srgbClr val="4A0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85032" y="2286000"/>
            <a:ext cx="384048" cy="228600"/>
          </a:xfrm>
          <a:prstGeom prst="rect">
            <a:avLst/>
          </a:prstGeom>
          <a:noFill/>
        </p:spPr>
        <p:txBody>
          <a:bodyPr wrap="square" lIns="18288" tIns="18288" rIns="18288" bIns="18288" anchor="t">
            <a:spAutoFit/>
          </a:bodyPr>
          <a:lstStyle/>
          <a:p>
            <a:pPr algn="ctr"/>
            <a:r>
              <a:rPr sz="1100" b="1">
                <a:solidFill>
                  <a:srgbClr val="FFFFFF"/>
                </a:solidFill>
                <a:latin typeface="Aptos"/>
              </a:rPr>
              <a:t>2</a:t>
            </a:r>
          </a:p>
        </p:txBody>
      </p:sp>
      <p:sp>
        <p:nvSpPr>
          <p:cNvPr id="14" name="TextBox 13"/>
          <p:cNvSpPr txBox="1"/>
          <p:nvPr/>
        </p:nvSpPr>
        <p:spPr>
          <a:xfrm>
            <a:off x="3685032" y="2834640"/>
            <a:ext cx="1965960" cy="502920"/>
          </a:xfrm>
          <a:prstGeom prst="rect">
            <a:avLst/>
          </a:prstGeom>
          <a:noFill/>
        </p:spPr>
        <p:txBody>
          <a:bodyPr wrap="square" lIns="18288" tIns="18288" rIns="18288" bIns="18288" anchor="t">
            <a:spAutoFit/>
          </a:bodyPr>
          <a:lstStyle/>
          <a:p>
            <a:pPr algn="l"/>
            <a:r>
              <a:rPr sz="1400" b="1">
                <a:solidFill>
                  <a:srgbClr val="1F1B23"/>
                </a:solidFill>
                <a:latin typeface="Aptos"/>
              </a:rPr>
              <a:t>Create useful profiles</a:t>
            </a:r>
          </a:p>
        </p:txBody>
      </p:sp>
      <p:sp>
        <p:nvSpPr>
          <p:cNvPr id="15" name="TextBox 14"/>
          <p:cNvSpPr txBox="1"/>
          <p:nvPr/>
        </p:nvSpPr>
        <p:spPr>
          <a:xfrm>
            <a:off x="3685032" y="3566160"/>
            <a:ext cx="1965960" cy="1051560"/>
          </a:xfrm>
          <a:prstGeom prst="rect">
            <a:avLst/>
          </a:prstGeom>
          <a:noFill/>
        </p:spPr>
        <p:txBody>
          <a:bodyPr wrap="square" lIns="18288" tIns="18288" rIns="18288" bIns="18288" anchor="t">
            <a:spAutoFit/>
          </a:bodyPr>
          <a:lstStyle/>
          <a:p>
            <a:pPr algn="l"/>
            <a:r>
              <a:rPr sz="1030" b="0">
                <a:solidFill>
                  <a:srgbClr val="686069"/>
                </a:solidFill>
                <a:latin typeface="Aptos"/>
              </a:rPr>
              <a:t>Make profiles discoverable and useful even before the network is dense.</a:t>
            </a:r>
          </a:p>
        </p:txBody>
      </p:sp>
      <p:sp>
        <p:nvSpPr>
          <p:cNvPr id="16" name="Rounded Rectangle 15"/>
          <p:cNvSpPr/>
          <p:nvPr/>
        </p:nvSpPr>
        <p:spPr>
          <a:xfrm>
            <a:off x="6272784" y="1965960"/>
            <a:ext cx="2468880" cy="306324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501384" y="2240280"/>
            <a:ext cx="384048" cy="384048"/>
          </a:xfrm>
          <a:prstGeom prst="ellipse">
            <a:avLst/>
          </a:prstGeom>
          <a:solidFill>
            <a:srgbClr val="594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01384" y="2286000"/>
            <a:ext cx="384048" cy="228600"/>
          </a:xfrm>
          <a:prstGeom prst="rect">
            <a:avLst/>
          </a:prstGeom>
          <a:noFill/>
        </p:spPr>
        <p:txBody>
          <a:bodyPr wrap="square" lIns="18288" tIns="18288" rIns="18288" bIns="18288" anchor="t">
            <a:spAutoFit/>
          </a:bodyPr>
          <a:lstStyle/>
          <a:p>
            <a:pPr algn="ctr"/>
            <a:r>
              <a:rPr sz="1100" b="1">
                <a:solidFill>
                  <a:srgbClr val="FFFFFF"/>
                </a:solidFill>
                <a:latin typeface="Aptos"/>
              </a:rPr>
              <a:t>3</a:t>
            </a:r>
          </a:p>
        </p:txBody>
      </p:sp>
      <p:sp>
        <p:nvSpPr>
          <p:cNvPr id="19" name="TextBox 18"/>
          <p:cNvSpPr txBox="1"/>
          <p:nvPr/>
        </p:nvSpPr>
        <p:spPr>
          <a:xfrm>
            <a:off x="6501384" y="2834640"/>
            <a:ext cx="1965960" cy="502920"/>
          </a:xfrm>
          <a:prstGeom prst="rect">
            <a:avLst/>
          </a:prstGeom>
          <a:noFill/>
        </p:spPr>
        <p:txBody>
          <a:bodyPr wrap="square" lIns="18288" tIns="18288" rIns="18288" bIns="18288" anchor="t">
            <a:spAutoFit/>
          </a:bodyPr>
          <a:lstStyle/>
          <a:p>
            <a:pPr algn="l"/>
            <a:r>
              <a:rPr sz="1400" b="1">
                <a:solidFill>
                  <a:srgbClr val="1F1B23"/>
                </a:solidFill>
                <a:latin typeface="Aptos"/>
              </a:rPr>
              <a:t>Activate participation</a:t>
            </a:r>
          </a:p>
        </p:txBody>
      </p:sp>
      <p:sp>
        <p:nvSpPr>
          <p:cNvPr id="20" name="TextBox 19"/>
          <p:cNvSpPr txBox="1"/>
          <p:nvPr/>
        </p:nvSpPr>
        <p:spPr>
          <a:xfrm>
            <a:off x="6501384" y="3566160"/>
            <a:ext cx="1965960" cy="1051560"/>
          </a:xfrm>
          <a:prstGeom prst="rect">
            <a:avLst/>
          </a:prstGeom>
          <a:noFill/>
        </p:spPr>
        <p:txBody>
          <a:bodyPr wrap="square" lIns="18288" tIns="18288" rIns="18288" bIns="18288" anchor="t">
            <a:spAutoFit/>
          </a:bodyPr>
          <a:lstStyle/>
          <a:p>
            <a:pPr algn="l"/>
            <a:r>
              <a:rPr sz="1030" b="0">
                <a:solidFill>
                  <a:srgbClr val="686069"/>
                </a:solidFill>
                <a:latin typeface="Aptos"/>
              </a:rPr>
              <a:t>Use communities, events, jobs, research and news to create repeat reasons to return.</a:t>
            </a:r>
          </a:p>
        </p:txBody>
      </p:sp>
      <p:sp>
        <p:nvSpPr>
          <p:cNvPr id="21" name="Rounded Rectangle 20"/>
          <p:cNvSpPr/>
          <p:nvPr/>
        </p:nvSpPr>
        <p:spPr>
          <a:xfrm>
            <a:off x="9089136" y="1965960"/>
            <a:ext cx="2468880" cy="306324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317736" y="2240280"/>
            <a:ext cx="384048" cy="384048"/>
          </a:xfrm>
          <a:prstGeom prst="ellipse">
            <a:avLst/>
          </a:prstGeom>
          <a:solidFill>
            <a:srgbClr val="594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17736" y="2286000"/>
            <a:ext cx="384048" cy="228600"/>
          </a:xfrm>
          <a:prstGeom prst="rect">
            <a:avLst/>
          </a:prstGeom>
          <a:noFill/>
        </p:spPr>
        <p:txBody>
          <a:bodyPr wrap="square" lIns="18288" tIns="18288" rIns="18288" bIns="18288" anchor="t">
            <a:spAutoFit/>
          </a:bodyPr>
          <a:lstStyle/>
          <a:p>
            <a:pPr algn="ctr"/>
            <a:r>
              <a:rPr sz="1100" b="1">
                <a:solidFill>
                  <a:srgbClr val="FFFFFF"/>
                </a:solidFill>
                <a:latin typeface="Aptos"/>
              </a:rPr>
              <a:t>4</a:t>
            </a:r>
          </a:p>
        </p:txBody>
      </p:sp>
      <p:sp>
        <p:nvSpPr>
          <p:cNvPr id="24" name="TextBox 23"/>
          <p:cNvSpPr txBox="1"/>
          <p:nvPr/>
        </p:nvSpPr>
        <p:spPr>
          <a:xfrm>
            <a:off x="9317736" y="2834640"/>
            <a:ext cx="1965960" cy="502920"/>
          </a:xfrm>
          <a:prstGeom prst="rect">
            <a:avLst/>
          </a:prstGeom>
          <a:noFill/>
        </p:spPr>
        <p:txBody>
          <a:bodyPr wrap="square" lIns="18288" tIns="18288" rIns="18288" bIns="18288" anchor="t">
            <a:spAutoFit/>
          </a:bodyPr>
          <a:lstStyle/>
          <a:p>
            <a:pPr algn="l"/>
            <a:r>
              <a:rPr sz="1400" b="1">
                <a:solidFill>
                  <a:srgbClr val="1F1B23"/>
                </a:solidFill>
                <a:latin typeface="Aptos"/>
              </a:rPr>
              <a:t>Monetize high-intent demand</a:t>
            </a:r>
          </a:p>
        </p:txBody>
      </p:sp>
      <p:sp>
        <p:nvSpPr>
          <p:cNvPr id="25" name="TextBox 24"/>
          <p:cNvSpPr txBox="1"/>
          <p:nvPr/>
        </p:nvSpPr>
        <p:spPr>
          <a:xfrm>
            <a:off x="9317736" y="3566160"/>
            <a:ext cx="1965960" cy="1051560"/>
          </a:xfrm>
          <a:prstGeom prst="rect">
            <a:avLst/>
          </a:prstGeom>
          <a:noFill/>
        </p:spPr>
        <p:txBody>
          <a:bodyPr wrap="square" lIns="18288" tIns="18288" rIns="18288" bIns="18288" anchor="t">
            <a:spAutoFit/>
          </a:bodyPr>
          <a:lstStyle/>
          <a:p>
            <a:pPr algn="l"/>
            <a:r>
              <a:rPr sz="1030" b="0">
                <a:solidFill>
                  <a:srgbClr val="686069"/>
                </a:solidFill>
                <a:latin typeface="Aptos"/>
              </a:rPr>
              <a:t>Convert organizations and professionals to paid visibility, tools and workflow products.</a:t>
            </a:r>
          </a:p>
        </p:txBody>
      </p:sp>
      <p:sp>
        <p:nvSpPr>
          <p:cNvPr id="26" name="TextBox 25"/>
          <p:cNvSpPr txBox="1"/>
          <p:nvPr/>
        </p:nvSpPr>
        <p:spPr>
          <a:xfrm>
            <a:off x="822960" y="5577840"/>
            <a:ext cx="10607040" cy="411480"/>
          </a:xfrm>
          <a:prstGeom prst="rect">
            <a:avLst/>
          </a:prstGeom>
          <a:noFill/>
        </p:spPr>
        <p:txBody>
          <a:bodyPr wrap="square" lIns="18288" tIns="18288" rIns="18288" bIns="18288" anchor="t">
            <a:spAutoFit/>
          </a:bodyPr>
          <a:lstStyle/>
          <a:p>
            <a:pPr algn="ctr"/>
            <a:r>
              <a:rPr sz="1400" b="1">
                <a:solidFill>
                  <a:srgbClr val="4A0139"/>
                </a:solidFill>
                <a:latin typeface="Aptos"/>
              </a:rPr>
              <a:t>Distribution loop: identity → discovery → participation → relationships → repeat usage → monetization.</a:t>
            </a:r>
          </a:p>
        </p:txBody>
      </p:sp>
      <p:cxnSp>
        <p:nvCxnSpPr>
          <p:cNvPr id="27" name="Connector 26"/>
          <p:cNvCxnSpPr/>
          <p:nvPr/>
        </p:nvCxnSpPr>
        <p:spPr>
          <a:xfrm>
            <a:off x="594360" y="6473952"/>
            <a:ext cx="11000232" cy="0"/>
          </a:xfrm>
          <a:prstGeom prst="line">
            <a:avLst/>
          </a:prstGeom>
          <a:ln w="8890">
            <a:solidFill>
              <a:srgbClr val="E0DBD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94360" y="6519672"/>
            <a:ext cx="1280160" cy="164592"/>
          </a:xfrm>
          <a:prstGeom prst="rect">
            <a:avLst/>
          </a:prstGeom>
          <a:noFill/>
        </p:spPr>
        <p:txBody>
          <a:bodyPr wrap="square" lIns="18288" tIns="18288" rIns="18288" bIns="18288" anchor="t">
            <a:spAutoFit/>
          </a:bodyPr>
          <a:lstStyle/>
          <a:p>
            <a:pPr algn="l"/>
            <a:r>
              <a:rPr sz="850" b="1">
                <a:solidFill>
                  <a:srgbClr val="877F87"/>
                </a:solidFill>
                <a:latin typeface="Aptos"/>
              </a:rPr>
              <a:t>Pentasent</a:t>
            </a:r>
          </a:p>
        </p:txBody>
      </p:sp>
      <p:sp>
        <p:nvSpPr>
          <p:cNvPr id="29" name="TextBox 28"/>
          <p:cNvSpPr txBox="1"/>
          <p:nvPr/>
        </p:nvSpPr>
        <p:spPr>
          <a:xfrm>
            <a:off x="11064240" y="6519672"/>
            <a:ext cx="502920" cy="164592"/>
          </a:xfrm>
          <a:prstGeom prst="rect">
            <a:avLst/>
          </a:prstGeom>
          <a:noFill/>
        </p:spPr>
        <p:txBody>
          <a:bodyPr wrap="square" lIns="18288" tIns="18288" rIns="18288" bIns="18288" anchor="t">
            <a:spAutoFit/>
          </a:bodyPr>
          <a:lstStyle/>
          <a:p>
            <a:pPr algn="r"/>
            <a:r>
              <a:rPr sz="850" b="0">
                <a:solidFill>
                  <a:srgbClr val="877F87"/>
                </a:solidFill>
                <a:latin typeface="Aptos"/>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4023360" cy="256032"/>
          </a:xfrm>
          <a:prstGeom prst="rect">
            <a:avLst/>
          </a:prstGeom>
          <a:noFill/>
        </p:spPr>
        <p:txBody>
          <a:bodyPr wrap="square" lIns="18288" tIns="18288" rIns="18288" bIns="18288" anchor="t">
            <a:spAutoFit/>
          </a:bodyPr>
          <a:lstStyle/>
          <a:p>
            <a:pPr algn="l"/>
            <a:r>
              <a:rPr sz="1000" b="1">
                <a:solidFill>
                  <a:srgbClr val="686069"/>
                </a:solidFill>
                <a:latin typeface="Aptos"/>
              </a:rPr>
              <a:t>10  /  POSITIONING</a:t>
            </a:r>
          </a:p>
        </p:txBody>
      </p:sp>
      <p:sp>
        <p:nvSpPr>
          <p:cNvPr id="4" name="TextBox 3"/>
          <p:cNvSpPr txBox="1"/>
          <p:nvPr/>
        </p:nvSpPr>
        <p:spPr>
          <a:xfrm>
            <a:off x="594360" y="713232"/>
            <a:ext cx="10972800" cy="621792"/>
          </a:xfrm>
          <a:prstGeom prst="rect">
            <a:avLst/>
          </a:prstGeom>
          <a:noFill/>
        </p:spPr>
        <p:txBody>
          <a:bodyPr wrap="square" lIns="18288" tIns="18288" rIns="18288" bIns="18288" anchor="t">
            <a:spAutoFit/>
          </a:bodyPr>
          <a:lstStyle/>
          <a:p>
            <a:pPr algn="l"/>
            <a:r>
              <a:rPr sz="2800" b="1">
                <a:solidFill>
                  <a:srgbClr val="1F1B23"/>
                </a:solidFill>
                <a:latin typeface="Aptos"/>
              </a:rPr>
              <a:t>We are not replacing every healthcare product. We are connecting them.</a:t>
            </a:r>
          </a:p>
        </p:txBody>
      </p:sp>
      <p:sp>
        <p:nvSpPr>
          <p:cNvPr id="5" name="TextBox 4"/>
          <p:cNvSpPr txBox="1"/>
          <p:nvPr/>
        </p:nvSpPr>
        <p:spPr>
          <a:xfrm>
            <a:off x="612648" y="1527048"/>
            <a:ext cx="10789920" cy="438912"/>
          </a:xfrm>
          <a:prstGeom prst="rect">
            <a:avLst/>
          </a:prstGeom>
          <a:noFill/>
        </p:spPr>
        <p:txBody>
          <a:bodyPr wrap="square" lIns="18288" tIns="18288" rIns="18288" bIns="18288" anchor="t">
            <a:spAutoFit/>
          </a:bodyPr>
          <a:lstStyle/>
          <a:p>
            <a:pPr algn="l"/>
            <a:r>
              <a:rPr sz="1350" b="0" dirty="0" err="1">
                <a:solidFill>
                  <a:srgbClr val="686069"/>
                </a:solidFill>
                <a:latin typeface="Aptos"/>
              </a:rPr>
              <a:t>Pentasent</a:t>
            </a:r>
            <a:r>
              <a:rPr sz="1350" b="0" dirty="0">
                <a:solidFill>
                  <a:srgbClr val="686069"/>
                </a:solidFill>
                <a:latin typeface="Aptos"/>
              </a:rPr>
              <a:t> sits between single-purpose products and the broader healthcare ecosystem.</a:t>
            </a:r>
          </a:p>
        </p:txBody>
      </p:sp>
      <p:cxnSp>
        <p:nvCxnSpPr>
          <p:cNvPr id="6" name="Connector 5"/>
          <p:cNvCxnSpPr/>
          <p:nvPr/>
        </p:nvCxnSpPr>
        <p:spPr>
          <a:xfrm>
            <a:off x="1828800" y="5394960"/>
            <a:ext cx="9052560" cy="0"/>
          </a:xfrm>
          <a:prstGeom prst="line">
            <a:avLst/>
          </a:prstGeom>
          <a:ln w="16510">
            <a:solidFill>
              <a:srgbClr val="1F1B23"/>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828800" y="1874519"/>
            <a:ext cx="0" cy="3520441"/>
          </a:xfrm>
          <a:prstGeom prst="line">
            <a:avLst/>
          </a:prstGeom>
          <a:ln w="16510">
            <a:solidFill>
              <a:srgbClr val="1F1B2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143000" y="5559552"/>
            <a:ext cx="1371600" cy="228600"/>
          </a:xfrm>
          <a:prstGeom prst="rect">
            <a:avLst/>
          </a:prstGeom>
          <a:noFill/>
        </p:spPr>
        <p:txBody>
          <a:bodyPr wrap="square" lIns="18288" tIns="18288" rIns="18288" bIns="18288" anchor="t">
            <a:spAutoFit/>
          </a:bodyPr>
          <a:lstStyle/>
          <a:p>
            <a:pPr algn="l"/>
            <a:r>
              <a:rPr sz="900" b="1">
                <a:solidFill>
                  <a:srgbClr val="686069"/>
                </a:solidFill>
                <a:latin typeface="Aptos"/>
              </a:rPr>
              <a:t>Narrow workflow</a:t>
            </a:r>
          </a:p>
        </p:txBody>
      </p:sp>
      <p:sp>
        <p:nvSpPr>
          <p:cNvPr id="9" name="TextBox 8"/>
          <p:cNvSpPr txBox="1"/>
          <p:nvPr/>
        </p:nvSpPr>
        <p:spPr>
          <a:xfrm>
            <a:off x="9646920" y="5559552"/>
            <a:ext cx="1463040" cy="228600"/>
          </a:xfrm>
          <a:prstGeom prst="rect">
            <a:avLst/>
          </a:prstGeom>
          <a:noFill/>
        </p:spPr>
        <p:txBody>
          <a:bodyPr wrap="square" lIns="18288" tIns="18288" rIns="18288" bIns="18288" anchor="t">
            <a:spAutoFit/>
          </a:bodyPr>
          <a:lstStyle/>
          <a:p>
            <a:pPr algn="l"/>
            <a:r>
              <a:rPr sz="900" b="1">
                <a:solidFill>
                  <a:srgbClr val="686069"/>
                </a:solidFill>
                <a:latin typeface="Aptos"/>
              </a:rPr>
              <a:t>Broad ecosystem</a:t>
            </a:r>
          </a:p>
        </p:txBody>
      </p:sp>
      <p:sp>
        <p:nvSpPr>
          <p:cNvPr id="10" name="TextBox 9"/>
          <p:cNvSpPr txBox="1"/>
          <p:nvPr/>
        </p:nvSpPr>
        <p:spPr>
          <a:xfrm>
            <a:off x="320040" y="2011680"/>
            <a:ext cx="1234440" cy="228600"/>
          </a:xfrm>
          <a:prstGeom prst="rect">
            <a:avLst/>
          </a:prstGeom>
          <a:noFill/>
        </p:spPr>
        <p:txBody>
          <a:bodyPr wrap="square" lIns="18288" tIns="18288" rIns="18288" bIns="18288" anchor="t">
            <a:spAutoFit/>
          </a:bodyPr>
          <a:lstStyle/>
          <a:p>
            <a:pPr algn="ctr"/>
            <a:r>
              <a:rPr sz="900" b="1">
                <a:solidFill>
                  <a:srgbClr val="686069"/>
                </a:solidFill>
                <a:latin typeface="Aptos"/>
              </a:rPr>
              <a:t>Single-purpose</a:t>
            </a:r>
          </a:p>
        </p:txBody>
      </p:sp>
      <p:sp>
        <p:nvSpPr>
          <p:cNvPr id="11" name="TextBox 10"/>
          <p:cNvSpPr txBox="1"/>
          <p:nvPr/>
        </p:nvSpPr>
        <p:spPr>
          <a:xfrm>
            <a:off x="389775" y="2203703"/>
            <a:ext cx="914400" cy="228600"/>
          </a:xfrm>
          <a:prstGeom prst="rect">
            <a:avLst/>
          </a:prstGeom>
          <a:noFill/>
        </p:spPr>
        <p:txBody>
          <a:bodyPr wrap="square" lIns="18288" tIns="18288" rIns="18288" bIns="18288" anchor="t">
            <a:spAutoFit/>
          </a:bodyPr>
          <a:lstStyle/>
          <a:p>
            <a:pPr algn="ctr"/>
            <a:r>
              <a:rPr sz="900" b="1" dirty="0">
                <a:solidFill>
                  <a:srgbClr val="686069"/>
                </a:solidFill>
                <a:latin typeface="Aptos"/>
              </a:rPr>
              <a:t>Multi-sided</a:t>
            </a:r>
          </a:p>
        </p:txBody>
      </p:sp>
      <p:sp>
        <p:nvSpPr>
          <p:cNvPr id="12" name="Oval 11"/>
          <p:cNvSpPr/>
          <p:nvPr/>
        </p:nvSpPr>
        <p:spPr>
          <a:xfrm>
            <a:off x="3657600" y="4617720"/>
            <a:ext cx="256032" cy="256032"/>
          </a:xfrm>
          <a:prstGeom prst="ellipse">
            <a:avLst/>
          </a:prstGeom>
          <a:solidFill>
            <a:srgbClr val="BBB2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005072" y="4599432"/>
            <a:ext cx="1828800" cy="274320"/>
          </a:xfrm>
          <a:prstGeom prst="rect">
            <a:avLst/>
          </a:prstGeom>
          <a:noFill/>
        </p:spPr>
        <p:txBody>
          <a:bodyPr wrap="square" lIns="18288" tIns="18288" rIns="18288" bIns="18288" anchor="t">
            <a:spAutoFit/>
          </a:bodyPr>
          <a:lstStyle/>
          <a:p>
            <a:pPr algn="l"/>
            <a:r>
              <a:rPr sz="1050" b="0">
                <a:solidFill>
                  <a:srgbClr val="686069"/>
                </a:solidFill>
                <a:latin typeface="Aptos"/>
              </a:rPr>
              <a:t>Care / booking</a:t>
            </a:r>
          </a:p>
        </p:txBody>
      </p:sp>
      <p:sp>
        <p:nvSpPr>
          <p:cNvPr id="14" name="Oval 13"/>
          <p:cNvSpPr/>
          <p:nvPr/>
        </p:nvSpPr>
        <p:spPr>
          <a:xfrm>
            <a:off x="5577840" y="4297680"/>
            <a:ext cx="256032" cy="256032"/>
          </a:xfrm>
          <a:prstGeom prst="ellipse">
            <a:avLst/>
          </a:prstGeom>
          <a:solidFill>
            <a:srgbClr val="BBB2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25312" y="4279392"/>
            <a:ext cx="1828800" cy="274320"/>
          </a:xfrm>
          <a:prstGeom prst="rect">
            <a:avLst/>
          </a:prstGeom>
          <a:noFill/>
        </p:spPr>
        <p:txBody>
          <a:bodyPr wrap="square" lIns="18288" tIns="18288" rIns="18288" bIns="18288" anchor="t">
            <a:spAutoFit/>
          </a:bodyPr>
          <a:lstStyle/>
          <a:p>
            <a:pPr algn="l"/>
            <a:r>
              <a:rPr sz="1050" b="0">
                <a:solidFill>
                  <a:srgbClr val="686069"/>
                </a:solidFill>
                <a:latin typeface="Aptos"/>
              </a:rPr>
              <a:t>Wellness apps</a:t>
            </a:r>
          </a:p>
        </p:txBody>
      </p:sp>
      <p:sp>
        <p:nvSpPr>
          <p:cNvPr id="16" name="Oval 15"/>
          <p:cNvSpPr/>
          <p:nvPr/>
        </p:nvSpPr>
        <p:spPr>
          <a:xfrm>
            <a:off x="4572000" y="3291840"/>
            <a:ext cx="256032" cy="256032"/>
          </a:xfrm>
          <a:prstGeom prst="ellipse">
            <a:avLst/>
          </a:prstGeom>
          <a:solidFill>
            <a:srgbClr val="BBB2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919472" y="3273552"/>
            <a:ext cx="1828800" cy="274320"/>
          </a:xfrm>
          <a:prstGeom prst="rect">
            <a:avLst/>
          </a:prstGeom>
          <a:noFill/>
        </p:spPr>
        <p:txBody>
          <a:bodyPr wrap="square" lIns="18288" tIns="18288" rIns="18288" bIns="18288" anchor="t">
            <a:spAutoFit/>
          </a:bodyPr>
          <a:lstStyle/>
          <a:p>
            <a:pPr algn="l"/>
            <a:r>
              <a:rPr sz="1050" b="0">
                <a:solidFill>
                  <a:srgbClr val="686069"/>
                </a:solidFill>
                <a:latin typeface="Aptos"/>
              </a:rPr>
              <a:t>Professional networks</a:t>
            </a:r>
          </a:p>
        </p:txBody>
      </p:sp>
      <p:sp>
        <p:nvSpPr>
          <p:cNvPr id="18" name="Oval 17"/>
          <p:cNvSpPr/>
          <p:nvPr/>
        </p:nvSpPr>
        <p:spPr>
          <a:xfrm>
            <a:off x="7223760" y="3703320"/>
            <a:ext cx="256032" cy="256032"/>
          </a:xfrm>
          <a:prstGeom prst="ellipse">
            <a:avLst/>
          </a:prstGeom>
          <a:solidFill>
            <a:srgbClr val="BBB2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571232" y="3685032"/>
            <a:ext cx="1828800" cy="274320"/>
          </a:xfrm>
          <a:prstGeom prst="rect">
            <a:avLst/>
          </a:prstGeom>
          <a:noFill/>
        </p:spPr>
        <p:txBody>
          <a:bodyPr wrap="square" lIns="18288" tIns="18288" rIns="18288" bIns="18288" anchor="t">
            <a:spAutoFit/>
          </a:bodyPr>
          <a:lstStyle/>
          <a:p>
            <a:pPr algn="l"/>
            <a:r>
              <a:rPr sz="1050" b="0">
                <a:solidFill>
                  <a:srgbClr val="686069"/>
                </a:solidFill>
                <a:latin typeface="Aptos"/>
              </a:rPr>
              <a:t>Healthcare marketplaces</a:t>
            </a:r>
          </a:p>
        </p:txBody>
      </p:sp>
      <p:sp>
        <p:nvSpPr>
          <p:cNvPr id="20" name="Oval 19"/>
          <p:cNvSpPr/>
          <p:nvPr/>
        </p:nvSpPr>
        <p:spPr>
          <a:xfrm>
            <a:off x="8823960" y="2423160"/>
            <a:ext cx="256032" cy="256032"/>
          </a:xfrm>
          <a:prstGeom prst="ellipse">
            <a:avLst/>
          </a:prstGeom>
          <a:solidFill>
            <a:srgbClr val="4A0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71432" y="2404872"/>
            <a:ext cx="1828800" cy="274320"/>
          </a:xfrm>
          <a:prstGeom prst="rect">
            <a:avLst/>
          </a:prstGeom>
          <a:noFill/>
        </p:spPr>
        <p:txBody>
          <a:bodyPr wrap="square" lIns="18288" tIns="18288" rIns="18288" bIns="18288" anchor="t">
            <a:spAutoFit/>
          </a:bodyPr>
          <a:lstStyle/>
          <a:p>
            <a:pPr algn="l"/>
            <a:r>
              <a:rPr sz="1050" b="1">
                <a:solidFill>
                  <a:srgbClr val="4A0139"/>
                </a:solidFill>
                <a:latin typeface="Aptos"/>
              </a:rPr>
              <a:t>Pentasent</a:t>
            </a:r>
          </a:p>
        </p:txBody>
      </p:sp>
      <p:sp>
        <p:nvSpPr>
          <p:cNvPr id="22" name="Rounded Rectangle 21"/>
          <p:cNvSpPr/>
          <p:nvPr/>
        </p:nvSpPr>
        <p:spPr>
          <a:xfrm>
            <a:off x="8101584" y="1394460"/>
            <a:ext cx="2926080" cy="731520"/>
          </a:xfrm>
          <a:prstGeom prst="roundRect">
            <a:avLst/>
          </a:prstGeom>
          <a:solidFill>
            <a:srgbClr val="EFD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3" name="TextBox 22"/>
          <p:cNvSpPr txBox="1"/>
          <p:nvPr/>
        </p:nvSpPr>
        <p:spPr>
          <a:xfrm>
            <a:off x="8321040" y="1578956"/>
            <a:ext cx="2560320" cy="438912"/>
          </a:xfrm>
          <a:prstGeom prst="rect">
            <a:avLst/>
          </a:prstGeom>
          <a:noFill/>
        </p:spPr>
        <p:txBody>
          <a:bodyPr wrap="square" lIns="18288" tIns="18288" rIns="18288" bIns="18288" anchor="t">
            <a:spAutoFit/>
          </a:bodyPr>
          <a:lstStyle/>
          <a:p>
            <a:pPr algn="ctr"/>
            <a:r>
              <a:rPr sz="1300" b="1">
                <a:solidFill>
                  <a:srgbClr val="4A0139"/>
                </a:solidFill>
                <a:latin typeface="Aptos"/>
              </a:rPr>
              <a:t>Pentasent
connected ecosystem</a:t>
            </a:r>
          </a:p>
        </p:txBody>
      </p:sp>
      <p:sp>
        <p:nvSpPr>
          <p:cNvPr id="24" name="TextBox 23"/>
          <p:cNvSpPr txBox="1"/>
          <p:nvPr/>
        </p:nvSpPr>
        <p:spPr>
          <a:xfrm>
            <a:off x="1920240" y="5989320"/>
            <a:ext cx="8412480" cy="320040"/>
          </a:xfrm>
          <a:prstGeom prst="rect">
            <a:avLst/>
          </a:prstGeom>
          <a:noFill/>
        </p:spPr>
        <p:txBody>
          <a:bodyPr wrap="square" lIns="18288" tIns="18288" rIns="18288" bIns="18288" anchor="t">
            <a:spAutoFit/>
          </a:bodyPr>
          <a:lstStyle/>
          <a:p>
            <a:pPr algn="ctr"/>
            <a:r>
              <a:rPr sz="1250" b="1">
                <a:solidFill>
                  <a:srgbClr val="1F1B23"/>
                </a:solidFill>
                <a:latin typeface="Aptos"/>
              </a:rPr>
              <a:t>The strategic distinction is not feature count. It is the shared graph of entities, relationships and activity.</a:t>
            </a:r>
          </a:p>
        </p:txBody>
      </p:sp>
      <p:cxnSp>
        <p:nvCxnSpPr>
          <p:cNvPr id="25" name="Connector 24"/>
          <p:cNvCxnSpPr/>
          <p:nvPr/>
        </p:nvCxnSpPr>
        <p:spPr>
          <a:xfrm>
            <a:off x="594360" y="6473952"/>
            <a:ext cx="11000232" cy="0"/>
          </a:xfrm>
          <a:prstGeom prst="line">
            <a:avLst/>
          </a:prstGeom>
          <a:ln w="8890">
            <a:solidFill>
              <a:srgbClr val="E0DBD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4360" y="6519672"/>
            <a:ext cx="1280160" cy="164592"/>
          </a:xfrm>
          <a:prstGeom prst="rect">
            <a:avLst/>
          </a:prstGeom>
          <a:noFill/>
        </p:spPr>
        <p:txBody>
          <a:bodyPr wrap="square" lIns="18288" tIns="18288" rIns="18288" bIns="18288" anchor="t">
            <a:spAutoFit/>
          </a:bodyPr>
          <a:lstStyle/>
          <a:p>
            <a:pPr algn="l"/>
            <a:r>
              <a:rPr sz="850" b="1">
                <a:solidFill>
                  <a:srgbClr val="877F87"/>
                </a:solidFill>
                <a:latin typeface="Aptos"/>
              </a:rPr>
              <a:t>Pentasent</a:t>
            </a:r>
          </a:p>
        </p:txBody>
      </p:sp>
      <p:sp>
        <p:nvSpPr>
          <p:cNvPr id="27" name="TextBox 26"/>
          <p:cNvSpPr txBox="1"/>
          <p:nvPr/>
        </p:nvSpPr>
        <p:spPr>
          <a:xfrm>
            <a:off x="11064240" y="6519672"/>
            <a:ext cx="502920" cy="164592"/>
          </a:xfrm>
          <a:prstGeom prst="rect">
            <a:avLst/>
          </a:prstGeom>
          <a:noFill/>
        </p:spPr>
        <p:txBody>
          <a:bodyPr wrap="square" lIns="18288" tIns="18288" rIns="18288" bIns="18288" anchor="t">
            <a:spAutoFit/>
          </a:bodyPr>
          <a:lstStyle/>
          <a:p>
            <a:pPr algn="r"/>
            <a:r>
              <a:rPr sz="850" b="0">
                <a:solidFill>
                  <a:srgbClr val="877F87"/>
                </a:solidFill>
                <a:latin typeface="Apto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4023360" cy="256032"/>
          </a:xfrm>
          <a:prstGeom prst="rect">
            <a:avLst/>
          </a:prstGeom>
          <a:noFill/>
        </p:spPr>
        <p:txBody>
          <a:bodyPr wrap="square" lIns="18288" tIns="18288" rIns="18288" bIns="18288" anchor="t">
            <a:spAutoFit/>
          </a:bodyPr>
          <a:lstStyle/>
          <a:p>
            <a:pPr algn="l"/>
            <a:r>
              <a:rPr sz="1000" b="1">
                <a:solidFill>
                  <a:srgbClr val="686069"/>
                </a:solidFill>
                <a:latin typeface="Aptos"/>
              </a:rPr>
              <a:t>11  /  MOAT</a:t>
            </a:r>
          </a:p>
        </p:txBody>
      </p:sp>
      <p:sp>
        <p:nvSpPr>
          <p:cNvPr id="4" name="TextBox 3"/>
          <p:cNvSpPr txBox="1"/>
          <p:nvPr/>
        </p:nvSpPr>
        <p:spPr>
          <a:xfrm>
            <a:off x="594360" y="713232"/>
            <a:ext cx="10972800" cy="621792"/>
          </a:xfrm>
          <a:prstGeom prst="rect">
            <a:avLst/>
          </a:prstGeom>
          <a:noFill/>
        </p:spPr>
        <p:txBody>
          <a:bodyPr wrap="square" lIns="18288" tIns="18288" rIns="18288" bIns="18288" anchor="t">
            <a:spAutoFit/>
          </a:bodyPr>
          <a:lstStyle/>
          <a:p>
            <a:pPr algn="l"/>
            <a:r>
              <a:rPr sz="2800" b="1">
                <a:solidFill>
                  <a:srgbClr val="1F1B23"/>
                </a:solidFill>
                <a:latin typeface="Aptos"/>
              </a:rPr>
              <a:t>The moat is the graph, not the interface.</a:t>
            </a:r>
          </a:p>
        </p:txBody>
      </p:sp>
      <p:sp>
        <p:nvSpPr>
          <p:cNvPr id="5" name="TextBox 4"/>
          <p:cNvSpPr txBox="1"/>
          <p:nvPr/>
        </p:nvSpPr>
        <p:spPr>
          <a:xfrm>
            <a:off x="612648" y="1353312"/>
            <a:ext cx="10789920" cy="438912"/>
          </a:xfrm>
          <a:prstGeom prst="rect">
            <a:avLst/>
          </a:prstGeom>
          <a:noFill/>
        </p:spPr>
        <p:txBody>
          <a:bodyPr wrap="square" lIns="18288" tIns="18288" rIns="18288" bIns="18288" anchor="t">
            <a:spAutoFit/>
          </a:bodyPr>
          <a:lstStyle/>
          <a:p>
            <a:pPr algn="l"/>
            <a:r>
              <a:rPr sz="1350" b="0">
                <a:solidFill>
                  <a:srgbClr val="686069"/>
                </a:solidFill>
                <a:latin typeface="Aptos"/>
              </a:rPr>
              <a:t>Every verified entity and relationship makes the ecosystem more useful for the next participant.</a:t>
            </a:r>
          </a:p>
        </p:txBody>
      </p:sp>
      <p:sp>
        <p:nvSpPr>
          <p:cNvPr id="6" name="Oval 5"/>
          <p:cNvSpPr/>
          <p:nvPr/>
        </p:nvSpPr>
        <p:spPr>
          <a:xfrm>
            <a:off x="713232" y="2039112"/>
            <a:ext cx="292608" cy="292608"/>
          </a:xfrm>
          <a:prstGeom prst="ellipse">
            <a:avLst/>
          </a:prstGeom>
          <a:solidFill>
            <a:srgbClr val="4A0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1965960"/>
            <a:ext cx="2743200" cy="292608"/>
          </a:xfrm>
          <a:prstGeom prst="rect">
            <a:avLst/>
          </a:prstGeom>
          <a:noFill/>
        </p:spPr>
        <p:txBody>
          <a:bodyPr wrap="square" lIns="18288" tIns="18288" rIns="18288" bIns="18288" anchor="t">
            <a:spAutoFit/>
          </a:bodyPr>
          <a:lstStyle/>
          <a:p>
            <a:pPr algn="l"/>
            <a:r>
              <a:rPr sz="1300" b="1">
                <a:solidFill>
                  <a:srgbClr val="1F1B23"/>
                </a:solidFill>
                <a:latin typeface="Aptos"/>
              </a:rPr>
              <a:t>Structured healthcare graph</a:t>
            </a:r>
          </a:p>
        </p:txBody>
      </p:sp>
      <p:sp>
        <p:nvSpPr>
          <p:cNvPr id="8" name="TextBox 7"/>
          <p:cNvSpPr txBox="1"/>
          <p:nvPr/>
        </p:nvSpPr>
        <p:spPr>
          <a:xfrm>
            <a:off x="3977639" y="1920240"/>
            <a:ext cx="7315200" cy="530352"/>
          </a:xfrm>
          <a:prstGeom prst="rect">
            <a:avLst/>
          </a:prstGeom>
          <a:noFill/>
        </p:spPr>
        <p:txBody>
          <a:bodyPr wrap="square" lIns="18288" tIns="18288" rIns="18288" bIns="18288" anchor="t">
            <a:spAutoFit/>
          </a:bodyPr>
          <a:lstStyle/>
          <a:p>
            <a:pPr algn="l"/>
            <a:r>
              <a:rPr sz="1120" b="0">
                <a:solidFill>
                  <a:srgbClr val="686069"/>
                </a:solidFill>
                <a:latin typeface="Aptos"/>
              </a:rPr>
              <a:t>People ↔ organizations ↔ products ↔ communities ↔ events ↔ research ↔ news</a:t>
            </a:r>
          </a:p>
        </p:txBody>
      </p:sp>
      <p:sp>
        <p:nvSpPr>
          <p:cNvPr id="9" name="Oval 8"/>
          <p:cNvSpPr/>
          <p:nvPr/>
        </p:nvSpPr>
        <p:spPr>
          <a:xfrm>
            <a:off x="713232" y="2935224"/>
            <a:ext cx="292608" cy="292608"/>
          </a:xfrm>
          <a:prstGeom prst="ellipse">
            <a:avLst/>
          </a:prstGeom>
          <a:solidFill>
            <a:srgbClr val="594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88720" y="2862072"/>
            <a:ext cx="2743200" cy="292608"/>
          </a:xfrm>
          <a:prstGeom prst="rect">
            <a:avLst/>
          </a:prstGeom>
          <a:noFill/>
        </p:spPr>
        <p:txBody>
          <a:bodyPr wrap="square" lIns="18288" tIns="18288" rIns="18288" bIns="18288" anchor="t">
            <a:spAutoFit/>
          </a:bodyPr>
          <a:lstStyle/>
          <a:p>
            <a:pPr algn="l"/>
            <a:r>
              <a:rPr sz="1300" b="1">
                <a:solidFill>
                  <a:srgbClr val="1F1B23"/>
                </a:solidFill>
                <a:latin typeface="Aptos"/>
              </a:rPr>
              <a:t>Trust &amp; verification</a:t>
            </a:r>
          </a:p>
        </p:txBody>
      </p:sp>
      <p:sp>
        <p:nvSpPr>
          <p:cNvPr id="11" name="TextBox 10"/>
          <p:cNvSpPr txBox="1"/>
          <p:nvPr/>
        </p:nvSpPr>
        <p:spPr>
          <a:xfrm>
            <a:off x="3977639" y="2816352"/>
            <a:ext cx="7315200" cy="530352"/>
          </a:xfrm>
          <a:prstGeom prst="rect">
            <a:avLst/>
          </a:prstGeom>
          <a:noFill/>
        </p:spPr>
        <p:txBody>
          <a:bodyPr wrap="square" lIns="18288" tIns="18288" rIns="18288" bIns="18288" anchor="t">
            <a:spAutoFit/>
          </a:bodyPr>
          <a:lstStyle/>
          <a:p>
            <a:pPr algn="l"/>
            <a:r>
              <a:rPr sz="1120" b="0">
                <a:solidFill>
                  <a:srgbClr val="686069"/>
                </a:solidFill>
                <a:latin typeface="Aptos"/>
              </a:rPr>
              <a:t>Healthcare-specific profiles and organizational credentials create a higher-quality directory layer.</a:t>
            </a:r>
          </a:p>
        </p:txBody>
      </p:sp>
      <p:sp>
        <p:nvSpPr>
          <p:cNvPr id="12" name="Oval 11"/>
          <p:cNvSpPr/>
          <p:nvPr/>
        </p:nvSpPr>
        <p:spPr>
          <a:xfrm>
            <a:off x="713232" y="3831336"/>
            <a:ext cx="292608" cy="292608"/>
          </a:xfrm>
          <a:prstGeom prst="ellipse">
            <a:avLst/>
          </a:prstGeom>
          <a:solidFill>
            <a:srgbClr val="4A0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88720" y="3758184"/>
            <a:ext cx="2743200" cy="292608"/>
          </a:xfrm>
          <a:prstGeom prst="rect">
            <a:avLst/>
          </a:prstGeom>
          <a:noFill/>
        </p:spPr>
        <p:txBody>
          <a:bodyPr wrap="square" lIns="18288" tIns="18288" rIns="18288" bIns="18288" anchor="t">
            <a:spAutoFit/>
          </a:bodyPr>
          <a:lstStyle/>
          <a:p>
            <a:pPr algn="l"/>
            <a:r>
              <a:rPr sz="1300" b="1">
                <a:solidFill>
                  <a:srgbClr val="1F1B23"/>
                </a:solidFill>
                <a:latin typeface="Aptos"/>
              </a:rPr>
              <a:t>Network effects</a:t>
            </a:r>
          </a:p>
        </p:txBody>
      </p:sp>
      <p:sp>
        <p:nvSpPr>
          <p:cNvPr id="14" name="TextBox 13"/>
          <p:cNvSpPr txBox="1"/>
          <p:nvPr/>
        </p:nvSpPr>
        <p:spPr>
          <a:xfrm>
            <a:off x="3977639" y="3712464"/>
            <a:ext cx="7315200" cy="530352"/>
          </a:xfrm>
          <a:prstGeom prst="rect">
            <a:avLst/>
          </a:prstGeom>
          <a:noFill/>
        </p:spPr>
        <p:txBody>
          <a:bodyPr wrap="square" lIns="18288" tIns="18288" rIns="18288" bIns="18288" anchor="t">
            <a:spAutoFit/>
          </a:bodyPr>
          <a:lstStyle/>
          <a:p>
            <a:pPr algn="l"/>
            <a:r>
              <a:rPr sz="1120" b="0">
                <a:solidFill>
                  <a:srgbClr val="686069"/>
                </a:solidFill>
                <a:latin typeface="Aptos"/>
              </a:rPr>
              <a:t>More participants create more discovery, more interactions and more reasons for others to join.</a:t>
            </a:r>
          </a:p>
        </p:txBody>
      </p:sp>
      <p:sp>
        <p:nvSpPr>
          <p:cNvPr id="15" name="Oval 14"/>
          <p:cNvSpPr/>
          <p:nvPr/>
        </p:nvSpPr>
        <p:spPr>
          <a:xfrm>
            <a:off x="713232" y="4727448"/>
            <a:ext cx="292608" cy="292608"/>
          </a:xfrm>
          <a:prstGeom prst="ellipse">
            <a:avLst/>
          </a:prstGeom>
          <a:solidFill>
            <a:srgbClr val="594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88720" y="4654296"/>
            <a:ext cx="2743200" cy="292608"/>
          </a:xfrm>
          <a:prstGeom prst="rect">
            <a:avLst/>
          </a:prstGeom>
          <a:noFill/>
        </p:spPr>
        <p:txBody>
          <a:bodyPr wrap="square" lIns="18288" tIns="18288" rIns="18288" bIns="18288" anchor="t">
            <a:spAutoFit/>
          </a:bodyPr>
          <a:lstStyle/>
          <a:p>
            <a:pPr algn="l"/>
            <a:r>
              <a:rPr sz="1300" b="1">
                <a:solidFill>
                  <a:srgbClr val="1F1B23"/>
                </a:solidFill>
                <a:latin typeface="Aptos"/>
              </a:rPr>
              <a:t>Compounding activity</a:t>
            </a:r>
          </a:p>
        </p:txBody>
      </p:sp>
      <p:sp>
        <p:nvSpPr>
          <p:cNvPr id="17" name="TextBox 16"/>
          <p:cNvSpPr txBox="1"/>
          <p:nvPr/>
        </p:nvSpPr>
        <p:spPr>
          <a:xfrm>
            <a:off x="3977639" y="4608576"/>
            <a:ext cx="7315200" cy="530352"/>
          </a:xfrm>
          <a:prstGeom prst="rect">
            <a:avLst/>
          </a:prstGeom>
          <a:noFill/>
        </p:spPr>
        <p:txBody>
          <a:bodyPr wrap="square" lIns="18288" tIns="18288" rIns="18288" bIns="18288" anchor="t">
            <a:spAutoFit/>
          </a:bodyPr>
          <a:lstStyle/>
          <a:p>
            <a:pPr algn="l"/>
            <a:r>
              <a:rPr sz="1120" b="0">
                <a:solidFill>
                  <a:srgbClr val="686069"/>
                </a:solidFill>
                <a:latin typeface="Aptos"/>
              </a:rPr>
              <a:t>Profiles, events, research, communities and content create persistent ecosystem history.</a:t>
            </a:r>
          </a:p>
        </p:txBody>
      </p:sp>
      <p:sp>
        <p:nvSpPr>
          <p:cNvPr id="18" name="TextBox 17"/>
          <p:cNvSpPr txBox="1"/>
          <p:nvPr/>
        </p:nvSpPr>
        <p:spPr>
          <a:xfrm>
            <a:off x="914400" y="5989320"/>
            <a:ext cx="10332720" cy="320040"/>
          </a:xfrm>
          <a:prstGeom prst="rect">
            <a:avLst/>
          </a:prstGeom>
          <a:noFill/>
        </p:spPr>
        <p:txBody>
          <a:bodyPr wrap="square" lIns="18288" tIns="18288" rIns="18288" bIns="18288" anchor="t">
            <a:spAutoFit/>
          </a:bodyPr>
          <a:lstStyle/>
          <a:p>
            <a:pPr algn="ctr"/>
            <a:r>
              <a:rPr sz="1350" b="1">
                <a:solidFill>
                  <a:srgbClr val="4A0139"/>
                </a:solidFill>
                <a:latin typeface="Aptos"/>
              </a:rPr>
              <a:t>Long-term advantage: healthcare context + trusted identity + relationships + accumulated activity.</a:t>
            </a:r>
          </a:p>
        </p:txBody>
      </p:sp>
      <p:cxnSp>
        <p:nvCxnSpPr>
          <p:cNvPr id="19" name="Connector 18"/>
          <p:cNvCxnSpPr/>
          <p:nvPr/>
        </p:nvCxnSpPr>
        <p:spPr>
          <a:xfrm>
            <a:off x="594360" y="6473952"/>
            <a:ext cx="11000232" cy="0"/>
          </a:xfrm>
          <a:prstGeom prst="line">
            <a:avLst/>
          </a:prstGeom>
          <a:ln w="8890">
            <a:solidFill>
              <a:srgbClr val="E0DBD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94360" y="6519672"/>
            <a:ext cx="1280160" cy="164592"/>
          </a:xfrm>
          <a:prstGeom prst="rect">
            <a:avLst/>
          </a:prstGeom>
          <a:noFill/>
        </p:spPr>
        <p:txBody>
          <a:bodyPr wrap="square" lIns="18288" tIns="18288" rIns="18288" bIns="18288" anchor="t">
            <a:spAutoFit/>
          </a:bodyPr>
          <a:lstStyle/>
          <a:p>
            <a:pPr algn="l"/>
            <a:r>
              <a:rPr sz="850" b="1">
                <a:solidFill>
                  <a:srgbClr val="877F87"/>
                </a:solidFill>
                <a:latin typeface="Aptos"/>
              </a:rPr>
              <a:t>Pentasent</a:t>
            </a:r>
          </a:p>
        </p:txBody>
      </p:sp>
      <p:sp>
        <p:nvSpPr>
          <p:cNvPr id="21" name="TextBox 20"/>
          <p:cNvSpPr txBox="1"/>
          <p:nvPr/>
        </p:nvSpPr>
        <p:spPr>
          <a:xfrm>
            <a:off x="11064240" y="6519672"/>
            <a:ext cx="502920" cy="164592"/>
          </a:xfrm>
          <a:prstGeom prst="rect">
            <a:avLst/>
          </a:prstGeom>
          <a:noFill/>
        </p:spPr>
        <p:txBody>
          <a:bodyPr wrap="square" lIns="18288" tIns="18288" rIns="18288" bIns="18288" anchor="t">
            <a:spAutoFit/>
          </a:bodyPr>
          <a:lstStyle/>
          <a:p>
            <a:pPr algn="r"/>
            <a:r>
              <a:rPr sz="850" b="0">
                <a:solidFill>
                  <a:srgbClr val="877F87"/>
                </a:solidFill>
                <a:latin typeface="Apto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4023360" cy="256032"/>
          </a:xfrm>
          <a:prstGeom prst="rect">
            <a:avLst/>
          </a:prstGeom>
          <a:noFill/>
        </p:spPr>
        <p:txBody>
          <a:bodyPr wrap="square" lIns="18288" tIns="18288" rIns="18288" bIns="18288" anchor="t">
            <a:spAutoFit/>
          </a:bodyPr>
          <a:lstStyle/>
          <a:p>
            <a:pPr algn="l"/>
            <a:r>
              <a:rPr sz="1000" b="1">
                <a:solidFill>
                  <a:srgbClr val="686069"/>
                </a:solidFill>
                <a:latin typeface="Aptos"/>
              </a:rPr>
              <a:t>12  /  ROADMAP</a:t>
            </a:r>
          </a:p>
        </p:txBody>
      </p:sp>
      <p:sp>
        <p:nvSpPr>
          <p:cNvPr id="4" name="TextBox 3"/>
          <p:cNvSpPr txBox="1"/>
          <p:nvPr/>
        </p:nvSpPr>
        <p:spPr>
          <a:xfrm>
            <a:off x="594360" y="713232"/>
            <a:ext cx="10972800" cy="621792"/>
          </a:xfrm>
          <a:prstGeom prst="rect">
            <a:avLst/>
          </a:prstGeom>
          <a:noFill/>
        </p:spPr>
        <p:txBody>
          <a:bodyPr wrap="square" lIns="18288" tIns="18288" rIns="18288" bIns="18288" anchor="t">
            <a:spAutoFit/>
          </a:bodyPr>
          <a:lstStyle/>
          <a:p>
            <a:pPr algn="l"/>
            <a:r>
              <a:rPr sz="2800" b="1">
                <a:solidFill>
                  <a:srgbClr val="1F1B23"/>
                </a:solidFill>
                <a:latin typeface="Aptos"/>
              </a:rPr>
              <a:t>The next 24 months are about proving the engine.</a:t>
            </a:r>
          </a:p>
        </p:txBody>
      </p:sp>
      <p:sp>
        <p:nvSpPr>
          <p:cNvPr id="5" name="TextBox 4"/>
          <p:cNvSpPr txBox="1"/>
          <p:nvPr/>
        </p:nvSpPr>
        <p:spPr>
          <a:xfrm>
            <a:off x="612648" y="1353312"/>
            <a:ext cx="10789920" cy="438912"/>
          </a:xfrm>
          <a:prstGeom prst="rect">
            <a:avLst/>
          </a:prstGeom>
          <a:noFill/>
        </p:spPr>
        <p:txBody>
          <a:bodyPr wrap="square" lIns="18288" tIns="18288" rIns="18288" bIns="18288" anchor="t">
            <a:spAutoFit/>
          </a:bodyPr>
          <a:lstStyle/>
          <a:p>
            <a:pPr algn="l"/>
            <a:r>
              <a:rPr sz="1350" b="0">
                <a:solidFill>
                  <a:srgbClr val="686069"/>
                </a:solidFill>
                <a:latin typeface="Aptos"/>
              </a:rPr>
              <a:t>We are raising to turn a broad product thesis into a measurable, repeatable business.</a:t>
            </a:r>
          </a:p>
        </p:txBody>
      </p:sp>
      <p:sp>
        <p:nvSpPr>
          <p:cNvPr id="6" name="Rounded Rectangle 5"/>
          <p:cNvSpPr/>
          <p:nvPr/>
        </p:nvSpPr>
        <p:spPr>
          <a:xfrm>
            <a:off x="640080" y="1874519"/>
            <a:ext cx="3337560" cy="352044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68680" y="2103120"/>
            <a:ext cx="1325880" cy="310896"/>
          </a:xfrm>
          <a:prstGeom prst="roundRect">
            <a:avLst/>
          </a:prstGeom>
          <a:solidFill>
            <a:srgbClr val="EFD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121408"/>
            <a:ext cx="1325880" cy="256032"/>
          </a:xfrm>
          <a:prstGeom prst="rect">
            <a:avLst/>
          </a:prstGeom>
          <a:noFill/>
        </p:spPr>
        <p:txBody>
          <a:bodyPr wrap="square" lIns="18288" tIns="18288" rIns="18288" bIns="18288" anchor="ctr">
            <a:spAutoFit/>
          </a:bodyPr>
          <a:lstStyle/>
          <a:p>
            <a:pPr algn="ctr"/>
            <a:r>
              <a:rPr sz="900" b="1">
                <a:solidFill>
                  <a:srgbClr val="4A0139"/>
                </a:solidFill>
                <a:latin typeface="Aptos"/>
              </a:rPr>
              <a:t>0–6 MONTHS</a:t>
            </a:r>
          </a:p>
        </p:txBody>
      </p:sp>
      <p:sp>
        <p:nvSpPr>
          <p:cNvPr id="9" name="TextBox 8"/>
          <p:cNvSpPr txBox="1"/>
          <p:nvPr/>
        </p:nvSpPr>
        <p:spPr>
          <a:xfrm>
            <a:off x="868680" y="2743200"/>
            <a:ext cx="2788920" cy="384048"/>
          </a:xfrm>
          <a:prstGeom prst="rect">
            <a:avLst/>
          </a:prstGeom>
          <a:noFill/>
        </p:spPr>
        <p:txBody>
          <a:bodyPr wrap="square" lIns="18288" tIns="18288" rIns="18288" bIns="18288" anchor="t">
            <a:spAutoFit/>
          </a:bodyPr>
          <a:lstStyle/>
          <a:p>
            <a:pPr algn="l"/>
            <a:r>
              <a:rPr sz="1900" b="1">
                <a:solidFill>
                  <a:srgbClr val="1F1B23"/>
                </a:solidFill>
                <a:latin typeface="Aptos"/>
              </a:rPr>
              <a:t>DENSITY</a:t>
            </a:r>
          </a:p>
        </p:txBody>
      </p:sp>
      <p:sp>
        <p:nvSpPr>
          <p:cNvPr id="10" name="TextBox 9"/>
          <p:cNvSpPr txBox="1"/>
          <p:nvPr/>
        </p:nvSpPr>
        <p:spPr>
          <a:xfrm>
            <a:off x="868680" y="3364992"/>
            <a:ext cx="2788920" cy="1417320"/>
          </a:xfrm>
          <a:prstGeom prst="rect">
            <a:avLst/>
          </a:prstGeom>
          <a:noFill/>
        </p:spPr>
        <p:txBody>
          <a:bodyPr wrap="square" lIns="18288" tIns="18288" rIns="18288" bIns="18288" anchor="t">
            <a:spAutoFit/>
          </a:bodyPr>
          <a:lstStyle/>
          <a:p>
            <a:pPr algn="l"/>
            <a:r>
              <a:rPr sz="1100" b="0">
                <a:solidFill>
                  <a:srgbClr val="686069"/>
                </a:solidFill>
                <a:latin typeface="Aptos"/>
              </a:rPr>
              <a:t>Strengthen core discovery and profiles
Seed healthcare professionals &amp; organizations
Launch communities, events, jobs and research workflows
Instrument activation, retention and conversion</a:t>
            </a:r>
          </a:p>
        </p:txBody>
      </p:sp>
      <p:cxnSp>
        <p:nvCxnSpPr>
          <p:cNvPr id="11" name="Connector 10"/>
          <p:cNvCxnSpPr/>
          <p:nvPr/>
        </p:nvCxnSpPr>
        <p:spPr>
          <a:xfrm>
            <a:off x="3977639" y="3611880"/>
            <a:ext cx="320041" cy="0"/>
          </a:xfrm>
          <a:prstGeom prst="line">
            <a:avLst/>
          </a:prstGeom>
          <a:ln w="25400">
            <a:solidFill>
              <a:srgbClr val="5941F2"/>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370832" y="1874519"/>
            <a:ext cx="3337560" cy="352044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599432" y="2103120"/>
            <a:ext cx="1325880" cy="310896"/>
          </a:xfrm>
          <a:prstGeom prst="roundRect">
            <a:avLst/>
          </a:prstGeom>
          <a:solidFill>
            <a:srgbClr val="EFD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99432" y="2121408"/>
            <a:ext cx="1325880" cy="256032"/>
          </a:xfrm>
          <a:prstGeom prst="rect">
            <a:avLst/>
          </a:prstGeom>
          <a:noFill/>
        </p:spPr>
        <p:txBody>
          <a:bodyPr wrap="square" lIns="18288" tIns="18288" rIns="18288" bIns="18288" anchor="ctr">
            <a:spAutoFit/>
          </a:bodyPr>
          <a:lstStyle/>
          <a:p>
            <a:pPr algn="ctr"/>
            <a:r>
              <a:rPr sz="900" b="1">
                <a:solidFill>
                  <a:srgbClr val="4A0139"/>
                </a:solidFill>
                <a:latin typeface="Aptos"/>
              </a:rPr>
              <a:t>6–12 MONTHS</a:t>
            </a:r>
          </a:p>
        </p:txBody>
      </p:sp>
      <p:sp>
        <p:nvSpPr>
          <p:cNvPr id="15" name="TextBox 14"/>
          <p:cNvSpPr txBox="1"/>
          <p:nvPr/>
        </p:nvSpPr>
        <p:spPr>
          <a:xfrm>
            <a:off x="4599432" y="2743200"/>
            <a:ext cx="2788920" cy="384048"/>
          </a:xfrm>
          <a:prstGeom prst="rect">
            <a:avLst/>
          </a:prstGeom>
          <a:noFill/>
        </p:spPr>
        <p:txBody>
          <a:bodyPr wrap="square" lIns="18288" tIns="18288" rIns="18288" bIns="18288" anchor="t">
            <a:spAutoFit/>
          </a:bodyPr>
          <a:lstStyle/>
          <a:p>
            <a:pPr algn="l"/>
            <a:r>
              <a:rPr sz="1900" b="1">
                <a:solidFill>
                  <a:srgbClr val="1F1B23"/>
                </a:solidFill>
                <a:latin typeface="Aptos"/>
              </a:rPr>
              <a:t>REPEATABILITY</a:t>
            </a:r>
          </a:p>
        </p:txBody>
      </p:sp>
      <p:sp>
        <p:nvSpPr>
          <p:cNvPr id="16" name="TextBox 15"/>
          <p:cNvSpPr txBox="1"/>
          <p:nvPr/>
        </p:nvSpPr>
        <p:spPr>
          <a:xfrm>
            <a:off x="4599432" y="3364992"/>
            <a:ext cx="2788920" cy="1417320"/>
          </a:xfrm>
          <a:prstGeom prst="rect">
            <a:avLst/>
          </a:prstGeom>
          <a:noFill/>
        </p:spPr>
        <p:txBody>
          <a:bodyPr wrap="square" lIns="18288" tIns="18288" rIns="18288" bIns="18288" anchor="t">
            <a:spAutoFit/>
          </a:bodyPr>
          <a:lstStyle/>
          <a:p>
            <a:pPr algn="l"/>
            <a:r>
              <a:rPr sz="1100" b="0">
                <a:solidFill>
                  <a:srgbClr val="686069"/>
                </a:solidFill>
                <a:latin typeface="Aptos"/>
              </a:rPr>
              <a:t>Prove repeat usage loops
Launch paid professional / organization products
Build acquisition playbooks
Establish first recurring revenue</a:t>
            </a:r>
          </a:p>
        </p:txBody>
      </p:sp>
      <p:cxnSp>
        <p:nvCxnSpPr>
          <p:cNvPr id="17" name="Connector 16"/>
          <p:cNvCxnSpPr/>
          <p:nvPr/>
        </p:nvCxnSpPr>
        <p:spPr>
          <a:xfrm>
            <a:off x="7708392" y="3611880"/>
            <a:ext cx="320040" cy="0"/>
          </a:xfrm>
          <a:prstGeom prst="line">
            <a:avLst/>
          </a:prstGeom>
          <a:ln w="25400">
            <a:solidFill>
              <a:srgbClr val="5941F2"/>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01583" y="1874519"/>
            <a:ext cx="3337560" cy="352044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330183" y="2103120"/>
            <a:ext cx="1325880" cy="310896"/>
          </a:xfrm>
          <a:prstGeom prst="roundRect">
            <a:avLst/>
          </a:prstGeom>
          <a:solidFill>
            <a:srgbClr val="EFD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30183" y="2121408"/>
            <a:ext cx="1325880" cy="256032"/>
          </a:xfrm>
          <a:prstGeom prst="rect">
            <a:avLst/>
          </a:prstGeom>
          <a:noFill/>
        </p:spPr>
        <p:txBody>
          <a:bodyPr wrap="square" lIns="18288" tIns="18288" rIns="18288" bIns="18288" anchor="ctr">
            <a:spAutoFit/>
          </a:bodyPr>
          <a:lstStyle/>
          <a:p>
            <a:pPr algn="ctr"/>
            <a:r>
              <a:rPr sz="900" b="1">
                <a:solidFill>
                  <a:srgbClr val="4A0139"/>
                </a:solidFill>
                <a:latin typeface="Aptos"/>
              </a:rPr>
              <a:t>12–24 MONTHS</a:t>
            </a:r>
          </a:p>
        </p:txBody>
      </p:sp>
      <p:sp>
        <p:nvSpPr>
          <p:cNvPr id="21" name="TextBox 20"/>
          <p:cNvSpPr txBox="1"/>
          <p:nvPr/>
        </p:nvSpPr>
        <p:spPr>
          <a:xfrm>
            <a:off x="8330183" y="2743200"/>
            <a:ext cx="2788920" cy="384048"/>
          </a:xfrm>
          <a:prstGeom prst="rect">
            <a:avLst/>
          </a:prstGeom>
          <a:noFill/>
        </p:spPr>
        <p:txBody>
          <a:bodyPr wrap="square" lIns="18288" tIns="18288" rIns="18288" bIns="18288" anchor="t">
            <a:spAutoFit/>
          </a:bodyPr>
          <a:lstStyle/>
          <a:p>
            <a:pPr algn="l"/>
            <a:r>
              <a:rPr sz="1900" b="1">
                <a:solidFill>
                  <a:srgbClr val="1F1B23"/>
                </a:solidFill>
                <a:latin typeface="Aptos"/>
              </a:rPr>
              <a:t>SCALE</a:t>
            </a:r>
          </a:p>
        </p:txBody>
      </p:sp>
      <p:sp>
        <p:nvSpPr>
          <p:cNvPr id="22" name="TextBox 21"/>
          <p:cNvSpPr txBox="1"/>
          <p:nvPr/>
        </p:nvSpPr>
        <p:spPr>
          <a:xfrm>
            <a:off x="8330183" y="3364992"/>
            <a:ext cx="2788920" cy="1417320"/>
          </a:xfrm>
          <a:prstGeom prst="rect">
            <a:avLst/>
          </a:prstGeom>
          <a:noFill/>
        </p:spPr>
        <p:txBody>
          <a:bodyPr wrap="square" lIns="18288" tIns="18288" rIns="18288" bIns="18288" anchor="t">
            <a:spAutoFit/>
          </a:bodyPr>
          <a:lstStyle/>
          <a:p>
            <a:pPr algn="l"/>
            <a:r>
              <a:rPr sz="1100" b="0">
                <a:solidFill>
                  <a:srgbClr val="686069"/>
                </a:solidFill>
                <a:latin typeface="Aptos"/>
              </a:rPr>
              <a:t>Expand categories and geographies
Deepen organization workflows
Grow marketplace / sponsored discovery
Build ecosystem intelligence &amp; integrations</a:t>
            </a:r>
          </a:p>
        </p:txBody>
      </p:sp>
      <p:sp>
        <p:nvSpPr>
          <p:cNvPr id="23" name="TextBox 22"/>
          <p:cNvSpPr txBox="1"/>
          <p:nvPr/>
        </p:nvSpPr>
        <p:spPr>
          <a:xfrm>
            <a:off x="914400" y="5989320"/>
            <a:ext cx="10332720" cy="320040"/>
          </a:xfrm>
          <a:prstGeom prst="rect">
            <a:avLst/>
          </a:prstGeom>
          <a:noFill/>
        </p:spPr>
        <p:txBody>
          <a:bodyPr wrap="square" lIns="18288" tIns="18288" rIns="18288" bIns="18288" anchor="t">
            <a:spAutoFit/>
          </a:bodyPr>
          <a:lstStyle/>
          <a:p>
            <a:pPr algn="ctr"/>
            <a:r>
              <a:rPr sz="1350" b="1">
                <a:solidFill>
                  <a:srgbClr val="4A0139"/>
                </a:solidFill>
                <a:latin typeface="Aptos"/>
              </a:rPr>
              <a:t>Fundraising milestone: leave this round with evidence of product-market pull—not just a larger feature set.</a:t>
            </a:r>
          </a:p>
        </p:txBody>
      </p:sp>
      <p:cxnSp>
        <p:nvCxnSpPr>
          <p:cNvPr id="24" name="Connector 23"/>
          <p:cNvCxnSpPr/>
          <p:nvPr/>
        </p:nvCxnSpPr>
        <p:spPr>
          <a:xfrm>
            <a:off x="594360" y="6473952"/>
            <a:ext cx="11000232" cy="0"/>
          </a:xfrm>
          <a:prstGeom prst="line">
            <a:avLst/>
          </a:prstGeom>
          <a:ln w="8890">
            <a:solidFill>
              <a:srgbClr val="E0DBD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94360" y="6519672"/>
            <a:ext cx="1280160" cy="164592"/>
          </a:xfrm>
          <a:prstGeom prst="rect">
            <a:avLst/>
          </a:prstGeom>
          <a:noFill/>
        </p:spPr>
        <p:txBody>
          <a:bodyPr wrap="square" lIns="18288" tIns="18288" rIns="18288" bIns="18288" anchor="t">
            <a:spAutoFit/>
          </a:bodyPr>
          <a:lstStyle/>
          <a:p>
            <a:pPr algn="l"/>
            <a:r>
              <a:rPr sz="850" b="1">
                <a:solidFill>
                  <a:srgbClr val="877F87"/>
                </a:solidFill>
                <a:latin typeface="Aptos"/>
              </a:rPr>
              <a:t>Pentasent</a:t>
            </a:r>
          </a:p>
        </p:txBody>
      </p:sp>
      <p:sp>
        <p:nvSpPr>
          <p:cNvPr id="26" name="TextBox 25"/>
          <p:cNvSpPr txBox="1"/>
          <p:nvPr/>
        </p:nvSpPr>
        <p:spPr>
          <a:xfrm>
            <a:off x="11064240" y="6519672"/>
            <a:ext cx="502920" cy="164592"/>
          </a:xfrm>
          <a:prstGeom prst="rect">
            <a:avLst/>
          </a:prstGeom>
          <a:noFill/>
        </p:spPr>
        <p:txBody>
          <a:bodyPr wrap="square" lIns="18288" tIns="18288" rIns="18288" bIns="18288" anchor="t">
            <a:spAutoFit/>
          </a:bodyPr>
          <a:lstStyle/>
          <a:p>
            <a:pPr algn="r"/>
            <a:r>
              <a:rPr sz="850" b="0">
                <a:solidFill>
                  <a:srgbClr val="877F87"/>
                </a:solidFill>
                <a:latin typeface="Apto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4A0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4023360" cy="256032"/>
          </a:xfrm>
          <a:prstGeom prst="rect">
            <a:avLst/>
          </a:prstGeom>
          <a:noFill/>
        </p:spPr>
        <p:txBody>
          <a:bodyPr wrap="square" lIns="18288" tIns="18288" rIns="18288" bIns="18288" anchor="t">
            <a:spAutoFit/>
          </a:bodyPr>
          <a:lstStyle/>
          <a:p>
            <a:pPr algn="l"/>
            <a:r>
              <a:rPr sz="1000" b="1">
                <a:solidFill>
                  <a:srgbClr val="DCD2DC"/>
                </a:solidFill>
                <a:latin typeface="Aptos"/>
              </a:rPr>
              <a:t>13  /  FUNDRAISE</a:t>
            </a:r>
          </a:p>
        </p:txBody>
      </p:sp>
      <p:sp>
        <p:nvSpPr>
          <p:cNvPr id="4" name="TextBox 3"/>
          <p:cNvSpPr txBox="1"/>
          <p:nvPr/>
        </p:nvSpPr>
        <p:spPr>
          <a:xfrm>
            <a:off x="594360" y="713232"/>
            <a:ext cx="10972800" cy="621792"/>
          </a:xfrm>
          <a:prstGeom prst="rect">
            <a:avLst/>
          </a:prstGeom>
          <a:noFill/>
        </p:spPr>
        <p:txBody>
          <a:bodyPr wrap="square" lIns="18288" tIns="18288" rIns="18288" bIns="18288" anchor="t">
            <a:spAutoFit/>
          </a:bodyPr>
          <a:lstStyle/>
          <a:p>
            <a:pPr algn="l"/>
            <a:r>
              <a:rPr sz="2800" b="1">
                <a:solidFill>
                  <a:srgbClr val="FFFFFF"/>
                </a:solidFill>
                <a:latin typeface="Aptos"/>
              </a:rPr>
              <a:t>€750k pre-seed to prove the ecosystem can become a business.</a:t>
            </a:r>
          </a:p>
        </p:txBody>
      </p:sp>
      <p:sp>
        <p:nvSpPr>
          <p:cNvPr id="5" name="TextBox 4"/>
          <p:cNvSpPr txBox="1"/>
          <p:nvPr/>
        </p:nvSpPr>
        <p:spPr>
          <a:xfrm>
            <a:off x="612648" y="1353312"/>
            <a:ext cx="10789920" cy="438912"/>
          </a:xfrm>
          <a:prstGeom prst="rect">
            <a:avLst/>
          </a:prstGeom>
          <a:noFill/>
        </p:spPr>
        <p:txBody>
          <a:bodyPr wrap="square" lIns="18288" tIns="18288" rIns="18288" bIns="18288" anchor="t">
            <a:spAutoFit/>
          </a:bodyPr>
          <a:lstStyle/>
          <a:p>
            <a:pPr algn="l"/>
            <a:r>
              <a:rPr sz="1350" b="0">
                <a:solidFill>
                  <a:srgbClr val="DCD2DC"/>
                </a:solidFill>
                <a:latin typeface="Aptos"/>
              </a:rPr>
              <a:t>A disciplined 24-month plan focused on product, distribution, trust and monetization.</a:t>
            </a:r>
          </a:p>
        </p:txBody>
      </p:sp>
      <p:sp>
        <p:nvSpPr>
          <p:cNvPr id="6" name="TextBox 5"/>
          <p:cNvSpPr txBox="1"/>
          <p:nvPr/>
        </p:nvSpPr>
        <p:spPr>
          <a:xfrm>
            <a:off x="685800" y="1920240"/>
            <a:ext cx="3474720" cy="731520"/>
          </a:xfrm>
          <a:prstGeom prst="rect">
            <a:avLst/>
          </a:prstGeom>
          <a:noFill/>
        </p:spPr>
        <p:txBody>
          <a:bodyPr wrap="square" lIns="18288" tIns="18288" rIns="18288" bIns="18288" anchor="t">
            <a:spAutoFit/>
          </a:bodyPr>
          <a:lstStyle/>
          <a:p>
            <a:pPr algn="l"/>
            <a:r>
              <a:rPr sz="3800" b="1">
                <a:solidFill>
                  <a:srgbClr val="FFFFFF"/>
                </a:solidFill>
                <a:latin typeface="Aptos"/>
              </a:rPr>
              <a:t>€750k</a:t>
            </a:r>
          </a:p>
        </p:txBody>
      </p:sp>
      <p:sp>
        <p:nvSpPr>
          <p:cNvPr id="7" name="TextBox 6"/>
          <p:cNvSpPr txBox="1"/>
          <p:nvPr/>
        </p:nvSpPr>
        <p:spPr>
          <a:xfrm>
            <a:off x="713232" y="2761488"/>
            <a:ext cx="3291840" cy="365760"/>
          </a:xfrm>
          <a:prstGeom prst="rect">
            <a:avLst/>
          </a:prstGeom>
          <a:noFill/>
        </p:spPr>
        <p:txBody>
          <a:bodyPr wrap="square" lIns="18288" tIns="18288" rIns="18288" bIns="18288" anchor="t">
            <a:spAutoFit/>
          </a:bodyPr>
          <a:lstStyle/>
          <a:p>
            <a:pPr algn="l"/>
            <a:r>
              <a:rPr sz="1500" b="1">
                <a:solidFill>
                  <a:srgbClr val="EFD5E6"/>
                </a:solidFill>
                <a:latin typeface="Aptos"/>
              </a:rPr>
              <a:t>Target dilution: ~10–12%</a:t>
            </a:r>
          </a:p>
        </p:txBody>
      </p:sp>
      <p:sp>
        <p:nvSpPr>
          <p:cNvPr id="8" name="TextBox 7"/>
          <p:cNvSpPr txBox="1"/>
          <p:nvPr/>
        </p:nvSpPr>
        <p:spPr>
          <a:xfrm>
            <a:off x="713232" y="3200400"/>
            <a:ext cx="3291840" cy="320040"/>
          </a:xfrm>
          <a:prstGeom prst="rect">
            <a:avLst/>
          </a:prstGeom>
          <a:noFill/>
        </p:spPr>
        <p:txBody>
          <a:bodyPr wrap="square" lIns="18288" tIns="18288" rIns="18288" bIns="18288" anchor="t">
            <a:spAutoFit/>
          </a:bodyPr>
          <a:lstStyle/>
          <a:p>
            <a:pPr algn="l"/>
            <a:r>
              <a:rPr sz="1300" b="0">
                <a:solidFill>
                  <a:srgbClr val="E7D9E5"/>
                </a:solidFill>
                <a:latin typeface="Aptos"/>
              </a:rPr>
              <a:t>Target runway: ~24 months</a:t>
            </a:r>
          </a:p>
        </p:txBody>
      </p:sp>
      <p:sp>
        <p:nvSpPr>
          <p:cNvPr id="9" name="Rounded Rectangle 8"/>
          <p:cNvSpPr/>
          <p:nvPr/>
        </p:nvSpPr>
        <p:spPr>
          <a:xfrm>
            <a:off x="4434840" y="1920240"/>
            <a:ext cx="6720840" cy="493776"/>
          </a:xfrm>
          <a:prstGeom prst="roundRect">
            <a:avLst/>
          </a:prstGeom>
          <a:solidFill>
            <a:srgbClr val="561645"/>
          </a:solidFill>
          <a:ln w="10160">
            <a:solidFill>
              <a:srgbClr val="7841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617720" y="2029968"/>
            <a:ext cx="4297680" cy="274320"/>
          </a:xfrm>
          <a:prstGeom prst="roundRect">
            <a:avLst/>
          </a:prstGeom>
          <a:solidFill>
            <a:srgbClr val="594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81728" y="2020824"/>
            <a:ext cx="2880360" cy="228600"/>
          </a:xfrm>
          <a:prstGeom prst="rect">
            <a:avLst/>
          </a:prstGeom>
          <a:noFill/>
        </p:spPr>
        <p:txBody>
          <a:bodyPr wrap="square" lIns="18288" tIns="18288" rIns="18288" bIns="18288" anchor="t">
            <a:spAutoFit/>
          </a:bodyPr>
          <a:lstStyle/>
          <a:p>
            <a:pPr algn="l"/>
            <a:r>
              <a:rPr sz="1050" b="1">
                <a:solidFill>
                  <a:srgbClr val="FFFFFF"/>
                </a:solidFill>
                <a:latin typeface="Aptos"/>
              </a:rPr>
              <a:t>Product &amp; engineering</a:t>
            </a:r>
          </a:p>
        </p:txBody>
      </p:sp>
      <p:sp>
        <p:nvSpPr>
          <p:cNvPr id="12" name="TextBox 11"/>
          <p:cNvSpPr txBox="1"/>
          <p:nvPr/>
        </p:nvSpPr>
        <p:spPr>
          <a:xfrm>
            <a:off x="10332720" y="2020824"/>
            <a:ext cx="502920" cy="228600"/>
          </a:xfrm>
          <a:prstGeom prst="rect">
            <a:avLst/>
          </a:prstGeom>
          <a:noFill/>
        </p:spPr>
        <p:txBody>
          <a:bodyPr wrap="square" lIns="18288" tIns="18288" rIns="18288" bIns="18288" anchor="t">
            <a:spAutoFit/>
          </a:bodyPr>
          <a:lstStyle/>
          <a:p>
            <a:pPr algn="r"/>
            <a:r>
              <a:rPr sz="1100" b="1">
                <a:solidFill>
                  <a:srgbClr val="FFFFFF"/>
                </a:solidFill>
                <a:latin typeface="Aptos"/>
              </a:rPr>
              <a:t>45%</a:t>
            </a:r>
          </a:p>
        </p:txBody>
      </p:sp>
      <p:sp>
        <p:nvSpPr>
          <p:cNvPr id="13" name="Rounded Rectangle 12"/>
          <p:cNvSpPr/>
          <p:nvPr/>
        </p:nvSpPr>
        <p:spPr>
          <a:xfrm>
            <a:off x="4434840" y="2578608"/>
            <a:ext cx="6720840" cy="493776"/>
          </a:xfrm>
          <a:prstGeom prst="roundRect">
            <a:avLst/>
          </a:prstGeom>
          <a:solidFill>
            <a:srgbClr val="561645"/>
          </a:solidFill>
          <a:ln w="10160">
            <a:solidFill>
              <a:srgbClr val="7841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617720" y="2688336"/>
            <a:ext cx="2865120" cy="274320"/>
          </a:xfrm>
          <a:prstGeom prst="roundRect">
            <a:avLst/>
          </a:prstGeom>
          <a:solidFill>
            <a:srgbClr val="AE3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81728" y="2679192"/>
            <a:ext cx="2880360" cy="228600"/>
          </a:xfrm>
          <a:prstGeom prst="rect">
            <a:avLst/>
          </a:prstGeom>
          <a:noFill/>
        </p:spPr>
        <p:txBody>
          <a:bodyPr wrap="square" lIns="18288" tIns="18288" rIns="18288" bIns="18288" anchor="t">
            <a:spAutoFit/>
          </a:bodyPr>
          <a:lstStyle/>
          <a:p>
            <a:pPr algn="l"/>
            <a:r>
              <a:rPr sz="1050" b="1">
                <a:solidFill>
                  <a:srgbClr val="FFFFFF"/>
                </a:solidFill>
                <a:latin typeface="Aptos"/>
              </a:rPr>
              <a:t>Growth &amp; ecosystem</a:t>
            </a:r>
          </a:p>
        </p:txBody>
      </p:sp>
      <p:sp>
        <p:nvSpPr>
          <p:cNvPr id="16" name="TextBox 15"/>
          <p:cNvSpPr txBox="1"/>
          <p:nvPr/>
        </p:nvSpPr>
        <p:spPr>
          <a:xfrm>
            <a:off x="10332720" y="2679192"/>
            <a:ext cx="502920" cy="228600"/>
          </a:xfrm>
          <a:prstGeom prst="rect">
            <a:avLst/>
          </a:prstGeom>
          <a:noFill/>
        </p:spPr>
        <p:txBody>
          <a:bodyPr wrap="square" lIns="18288" tIns="18288" rIns="18288" bIns="18288" anchor="t">
            <a:spAutoFit/>
          </a:bodyPr>
          <a:lstStyle/>
          <a:p>
            <a:pPr algn="r"/>
            <a:r>
              <a:rPr sz="1100" b="1">
                <a:solidFill>
                  <a:srgbClr val="FFFFFF"/>
                </a:solidFill>
                <a:latin typeface="Aptos"/>
              </a:rPr>
              <a:t>30%</a:t>
            </a:r>
          </a:p>
        </p:txBody>
      </p:sp>
      <p:sp>
        <p:nvSpPr>
          <p:cNvPr id="17" name="Rounded Rectangle 16"/>
          <p:cNvSpPr/>
          <p:nvPr/>
        </p:nvSpPr>
        <p:spPr>
          <a:xfrm>
            <a:off x="4434840" y="3236976"/>
            <a:ext cx="6720840" cy="493776"/>
          </a:xfrm>
          <a:prstGeom prst="roundRect">
            <a:avLst/>
          </a:prstGeom>
          <a:solidFill>
            <a:srgbClr val="561645"/>
          </a:solidFill>
          <a:ln w="10160">
            <a:solidFill>
              <a:srgbClr val="7841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617720" y="3346704"/>
            <a:ext cx="1432560" cy="274320"/>
          </a:xfrm>
          <a:prstGeom prst="roundRect">
            <a:avLst/>
          </a:prstGeom>
          <a:solidFill>
            <a:srgbClr val="277E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681728" y="3337560"/>
            <a:ext cx="2880360" cy="228600"/>
          </a:xfrm>
          <a:prstGeom prst="rect">
            <a:avLst/>
          </a:prstGeom>
          <a:noFill/>
        </p:spPr>
        <p:txBody>
          <a:bodyPr wrap="square" lIns="18288" tIns="18288" rIns="18288" bIns="18288" anchor="t">
            <a:spAutoFit/>
          </a:bodyPr>
          <a:lstStyle/>
          <a:p>
            <a:pPr algn="l"/>
            <a:r>
              <a:rPr sz="1050" b="1">
                <a:solidFill>
                  <a:srgbClr val="FFFFFF"/>
                </a:solidFill>
                <a:latin typeface="Aptos"/>
              </a:rPr>
              <a:t>Operations</a:t>
            </a:r>
          </a:p>
        </p:txBody>
      </p:sp>
      <p:sp>
        <p:nvSpPr>
          <p:cNvPr id="20" name="TextBox 19"/>
          <p:cNvSpPr txBox="1"/>
          <p:nvPr/>
        </p:nvSpPr>
        <p:spPr>
          <a:xfrm>
            <a:off x="10332720" y="3337560"/>
            <a:ext cx="502920" cy="228600"/>
          </a:xfrm>
          <a:prstGeom prst="rect">
            <a:avLst/>
          </a:prstGeom>
          <a:noFill/>
        </p:spPr>
        <p:txBody>
          <a:bodyPr wrap="square" lIns="18288" tIns="18288" rIns="18288" bIns="18288" anchor="t">
            <a:spAutoFit/>
          </a:bodyPr>
          <a:lstStyle/>
          <a:p>
            <a:pPr algn="r"/>
            <a:r>
              <a:rPr sz="1100" b="1">
                <a:solidFill>
                  <a:srgbClr val="FFFFFF"/>
                </a:solidFill>
                <a:latin typeface="Aptos"/>
              </a:rPr>
              <a:t>15%</a:t>
            </a:r>
          </a:p>
        </p:txBody>
      </p:sp>
      <p:sp>
        <p:nvSpPr>
          <p:cNvPr id="21" name="Rounded Rectangle 20"/>
          <p:cNvSpPr/>
          <p:nvPr/>
        </p:nvSpPr>
        <p:spPr>
          <a:xfrm>
            <a:off x="4434840" y="3895344"/>
            <a:ext cx="6720840" cy="493776"/>
          </a:xfrm>
          <a:prstGeom prst="roundRect">
            <a:avLst/>
          </a:prstGeom>
          <a:solidFill>
            <a:srgbClr val="561645"/>
          </a:solidFill>
          <a:ln w="10160">
            <a:solidFill>
              <a:srgbClr val="7841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4617720" y="4005072"/>
            <a:ext cx="955040" cy="274320"/>
          </a:xfrm>
          <a:prstGeom prst="roundRect">
            <a:avLst/>
          </a:prstGeom>
          <a:solidFill>
            <a:srgbClr val="B97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81728" y="3995928"/>
            <a:ext cx="2880360" cy="228600"/>
          </a:xfrm>
          <a:prstGeom prst="rect">
            <a:avLst/>
          </a:prstGeom>
          <a:noFill/>
        </p:spPr>
        <p:txBody>
          <a:bodyPr wrap="square" lIns="18288" tIns="18288" rIns="18288" bIns="18288" anchor="t">
            <a:spAutoFit/>
          </a:bodyPr>
          <a:lstStyle/>
          <a:p>
            <a:pPr algn="l"/>
            <a:r>
              <a:rPr sz="1050" b="1">
                <a:solidFill>
                  <a:srgbClr val="FFFFFF"/>
                </a:solidFill>
                <a:latin typeface="Aptos"/>
              </a:rPr>
              <a:t>Compliance / legal / contingency</a:t>
            </a:r>
          </a:p>
        </p:txBody>
      </p:sp>
      <p:sp>
        <p:nvSpPr>
          <p:cNvPr id="24" name="TextBox 23"/>
          <p:cNvSpPr txBox="1"/>
          <p:nvPr/>
        </p:nvSpPr>
        <p:spPr>
          <a:xfrm>
            <a:off x="10332720" y="3995928"/>
            <a:ext cx="502920" cy="228600"/>
          </a:xfrm>
          <a:prstGeom prst="rect">
            <a:avLst/>
          </a:prstGeom>
          <a:noFill/>
        </p:spPr>
        <p:txBody>
          <a:bodyPr wrap="square" lIns="18288" tIns="18288" rIns="18288" bIns="18288" anchor="t">
            <a:spAutoFit/>
          </a:bodyPr>
          <a:lstStyle/>
          <a:p>
            <a:pPr algn="r"/>
            <a:r>
              <a:rPr sz="1100" b="1">
                <a:solidFill>
                  <a:srgbClr val="FFFFFF"/>
                </a:solidFill>
                <a:latin typeface="Aptos"/>
              </a:rPr>
              <a:t>10%</a:t>
            </a:r>
          </a:p>
        </p:txBody>
      </p:sp>
      <p:sp>
        <p:nvSpPr>
          <p:cNvPr id="25" name="TextBox 24"/>
          <p:cNvSpPr txBox="1"/>
          <p:nvPr/>
        </p:nvSpPr>
        <p:spPr>
          <a:xfrm>
            <a:off x="4480560" y="4800600"/>
            <a:ext cx="6355080" cy="822960"/>
          </a:xfrm>
          <a:prstGeom prst="rect">
            <a:avLst/>
          </a:prstGeom>
          <a:noFill/>
        </p:spPr>
        <p:txBody>
          <a:bodyPr wrap="square" lIns="18288" tIns="18288" rIns="18288" bIns="18288" anchor="t">
            <a:spAutoFit/>
          </a:bodyPr>
          <a:lstStyle/>
          <a:p>
            <a:pPr algn="l"/>
            <a:r>
              <a:rPr sz="1400" b="1">
                <a:solidFill>
                  <a:srgbClr val="FFFFFF"/>
                </a:solidFill>
                <a:latin typeface="Aptos"/>
              </a:rPr>
              <a:t>What this round buys: a measurable acquisition loop, retained users, first recurring revenue, and evidence for the next institutional round.</a:t>
            </a:r>
          </a:p>
        </p:txBody>
      </p:sp>
      <p:sp>
        <p:nvSpPr>
          <p:cNvPr id="26" name="TextBox 25"/>
          <p:cNvSpPr txBox="1"/>
          <p:nvPr/>
        </p:nvSpPr>
        <p:spPr>
          <a:xfrm>
            <a:off x="4480560" y="5623560"/>
            <a:ext cx="6355080" cy="530352"/>
          </a:xfrm>
          <a:prstGeom prst="rect">
            <a:avLst/>
          </a:prstGeom>
          <a:noFill/>
        </p:spPr>
        <p:txBody>
          <a:bodyPr wrap="square" lIns="18288" tIns="18288" rIns="18288" bIns="18288" anchor="t">
            <a:spAutoFit/>
          </a:bodyPr>
          <a:lstStyle/>
          <a:p>
            <a:pPr algn="l"/>
            <a:r>
              <a:rPr sz="1050" b="0">
                <a:solidFill>
                  <a:srgbClr val="E7D9E5"/>
                </a:solidFill>
                <a:latin typeface="Aptos"/>
              </a:rPr>
              <a:t>Valuation principle: preserve founder ownership and price against demonstrated progress; target roughly 10–12% dilution rather than maximizing the headline valuation today.</a:t>
            </a:r>
          </a:p>
        </p:txBody>
      </p:sp>
      <p:cxnSp>
        <p:nvCxnSpPr>
          <p:cNvPr id="27" name="Connector 26"/>
          <p:cNvCxnSpPr/>
          <p:nvPr/>
        </p:nvCxnSpPr>
        <p:spPr>
          <a:xfrm>
            <a:off x="594360" y="6473952"/>
            <a:ext cx="11000232" cy="0"/>
          </a:xfrm>
          <a:prstGeom prst="line">
            <a:avLst/>
          </a:prstGeom>
          <a:ln w="8890">
            <a:solidFill>
              <a:srgbClr val="5A325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94360" y="6519672"/>
            <a:ext cx="1280160" cy="164592"/>
          </a:xfrm>
          <a:prstGeom prst="rect">
            <a:avLst/>
          </a:prstGeom>
          <a:noFill/>
        </p:spPr>
        <p:txBody>
          <a:bodyPr wrap="square" lIns="18288" tIns="18288" rIns="18288" bIns="18288" anchor="t">
            <a:spAutoFit/>
          </a:bodyPr>
          <a:lstStyle/>
          <a:p>
            <a:pPr algn="l"/>
            <a:r>
              <a:rPr sz="850" b="1">
                <a:solidFill>
                  <a:srgbClr val="D5C8D3"/>
                </a:solidFill>
                <a:latin typeface="Aptos"/>
              </a:rPr>
              <a:t>Pentasent</a:t>
            </a:r>
          </a:p>
        </p:txBody>
      </p:sp>
      <p:sp>
        <p:nvSpPr>
          <p:cNvPr id="29" name="TextBox 28"/>
          <p:cNvSpPr txBox="1"/>
          <p:nvPr/>
        </p:nvSpPr>
        <p:spPr>
          <a:xfrm>
            <a:off x="11064240" y="6519672"/>
            <a:ext cx="502920" cy="164592"/>
          </a:xfrm>
          <a:prstGeom prst="rect">
            <a:avLst/>
          </a:prstGeom>
          <a:noFill/>
        </p:spPr>
        <p:txBody>
          <a:bodyPr wrap="square" lIns="18288" tIns="18288" rIns="18288" bIns="18288" anchor="t">
            <a:spAutoFit/>
          </a:bodyPr>
          <a:lstStyle/>
          <a:p>
            <a:pPr algn="r"/>
            <a:r>
              <a:rPr sz="850" b="0">
                <a:solidFill>
                  <a:srgbClr val="D5C8D3"/>
                </a:solidFill>
                <a:latin typeface="Aptos"/>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4023360" cy="256032"/>
          </a:xfrm>
          <a:prstGeom prst="rect">
            <a:avLst/>
          </a:prstGeom>
          <a:noFill/>
        </p:spPr>
        <p:txBody>
          <a:bodyPr wrap="square" lIns="18288" tIns="18288" rIns="18288" bIns="18288" anchor="t">
            <a:spAutoFit/>
          </a:bodyPr>
          <a:lstStyle/>
          <a:p>
            <a:pPr algn="l"/>
            <a:r>
              <a:rPr sz="1000" b="1">
                <a:solidFill>
                  <a:srgbClr val="686069"/>
                </a:solidFill>
                <a:latin typeface="Aptos"/>
              </a:rPr>
              <a:t>14  /  USE OF CAPITAL</a:t>
            </a:r>
          </a:p>
        </p:txBody>
      </p:sp>
      <p:sp>
        <p:nvSpPr>
          <p:cNvPr id="4" name="TextBox 3"/>
          <p:cNvSpPr txBox="1"/>
          <p:nvPr/>
        </p:nvSpPr>
        <p:spPr>
          <a:xfrm>
            <a:off x="594360" y="713232"/>
            <a:ext cx="10972800" cy="467820"/>
          </a:xfrm>
          <a:prstGeom prst="rect">
            <a:avLst/>
          </a:prstGeom>
          <a:noFill/>
        </p:spPr>
        <p:txBody>
          <a:bodyPr wrap="square" lIns="18288" tIns="18288" rIns="18288" bIns="18288" anchor="t">
            <a:spAutoFit/>
          </a:bodyPr>
          <a:lstStyle/>
          <a:p>
            <a:pPr algn="l"/>
            <a:r>
              <a:rPr sz="2800" b="1" dirty="0">
                <a:solidFill>
                  <a:srgbClr val="1F1B23"/>
                </a:solidFill>
                <a:latin typeface="Aptos"/>
              </a:rPr>
              <a:t>Capital is tied to proof points</a:t>
            </a:r>
            <a:r>
              <a:rPr lang="en-US" sz="2800" b="1" dirty="0">
                <a:solidFill>
                  <a:srgbClr val="1F1B23"/>
                </a:solidFill>
                <a:latin typeface="Aptos"/>
              </a:rPr>
              <a:t>, </a:t>
            </a:r>
            <a:r>
              <a:rPr sz="2800" b="1" dirty="0">
                <a:solidFill>
                  <a:srgbClr val="1F1B23"/>
                </a:solidFill>
                <a:latin typeface="Aptos"/>
              </a:rPr>
              <a:t>not headcount for its own sake.</a:t>
            </a:r>
          </a:p>
        </p:txBody>
      </p:sp>
      <p:sp>
        <p:nvSpPr>
          <p:cNvPr id="5" name="TextBox 4"/>
          <p:cNvSpPr txBox="1"/>
          <p:nvPr/>
        </p:nvSpPr>
        <p:spPr>
          <a:xfrm>
            <a:off x="612648" y="1353312"/>
            <a:ext cx="10789920" cy="438912"/>
          </a:xfrm>
          <a:prstGeom prst="rect">
            <a:avLst/>
          </a:prstGeom>
          <a:noFill/>
        </p:spPr>
        <p:txBody>
          <a:bodyPr wrap="square" lIns="18288" tIns="18288" rIns="18288" bIns="18288" anchor="t">
            <a:spAutoFit/>
          </a:bodyPr>
          <a:lstStyle/>
          <a:p>
            <a:pPr algn="l"/>
            <a:r>
              <a:rPr sz="1350" b="0">
                <a:solidFill>
                  <a:srgbClr val="686069"/>
                </a:solidFill>
                <a:latin typeface="Aptos"/>
              </a:rPr>
              <a:t>The objective is to build a durable healthcare network and demonstrate the economics behind it.</a:t>
            </a:r>
          </a:p>
        </p:txBody>
      </p:sp>
      <p:sp>
        <p:nvSpPr>
          <p:cNvPr id="6" name="Rounded Rectangle 5"/>
          <p:cNvSpPr/>
          <p:nvPr/>
        </p:nvSpPr>
        <p:spPr>
          <a:xfrm>
            <a:off x="640080" y="1965960"/>
            <a:ext cx="3337560" cy="338328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286000"/>
            <a:ext cx="2743200" cy="365760"/>
          </a:xfrm>
          <a:prstGeom prst="rect">
            <a:avLst/>
          </a:prstGeom>
          <a:noFill/>
        </p:spPr>
        <p:txBody>
          <a:bodyPr wrap="square" lIns="18288" tIns="18288" rIns="18288" bIns="18288" anchor="t">
            <a:spAutoFit/>
          </a:bodyPr>
          <a:lstStyle/>
          <a:p>
            <a:pPr algn="l"/>
            <a:r>
              <a:rPr sz="1600" b="1">
                <a:solidFill>
                  <a:srgbClr val="4A0139"/>
                </a:solidFill>
                <a:latin typeface="Aptos"/>
              </a:rPr>
              <a:t>PRODUCT</a:t>
            </a:r>
          </a:p>
        </p:txBody>
      </p:sp>
      <p:sp>
        <p:nvSpPr>
          <p:cNvPr id="8" name="TextBox 7"/>
          <p:cNvSpPr txBox="1"/>
          <p:nvPr/>
        </p:nvSpPr>
        <p:spPr>
          <a:xfrm>
            <a:off x="868680" y="2926080"/>
            <a:ext cx="2788920" cy="1828800"/>
          </a:xfrm>
          <a:prstGeom prst="rect">
            <a:avLst/>
          </a:prstGeom>
          <a:noFill/>
        </p:spPr>
        <p:txBody>
          <a:bodyPr wrap="square" lIns="18288" tIns="18288" rIns="18288" bIns="18288" anchor="t">
            <a:spAutoFit/>
          </a:bodyPr>
          <a:lstStyle/>
          <a:p>
            <a:pPr algn="l"/>
            <a:r>
              <a:rPr sz="1150" b="0">
                <a:solidFill>
                  <a:srgbClr val="686069"/>
                </a:solidFill>
                <a:latin typeface="Aptos"/>
              </a:rPr>
              <a:t>Ship the core ecosystem cleanly
Improve discovery, profiles and workflows
Instrument the full funnel
Build trust, verification and privacy foundations</a:t>
            </a:r>
          </a:p>
        </p:txBody>
      </p:sp>
      <p:sp>
        <p:nvSpPr>
          <p:cNvPr id="9" name="Rounded Rectangle 8"/>
          <p:cNvSpPr/>
          <p:nvPr/>
        </p:nvSpPr>
        <p:spPr>
          <a:xfrm>
            <a:off x="4370832" y="1965960"/>
            <a:ext cx="3337560" cy="338328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99432" y="2286000"/>
            <a:ext cx="2743200" cy="365760"/>
          </a:xfrm>
          <a:prstGeom prst="rect">
            <a:avLst/>
          </a:prstGeom>
          <a:noFill/>
        </p:spPr>
        <p:txBody>
          <a:bodyPr wrap="square" lIns="18288" tIns="18288" rIns="18288" bIns="18288" anchor="t">
            <a:spAutoFit/>
          </a:bodyPr>
          <a:lstStyle/>
          <a:p>
            <a:pPr algn="l"/>
            <a:r>
              <a:rPr sz="1600" b="1">
                <a:solidFill>
                  <a:srgbClr val="4A0139"/>
                </a:solidFill>
                <a:latin typeface="Aptos"/>
              </a:rPr>
              <a:t>DISTRIBUTION</a:t>
            </a:r>
          </a:p>
        </p:txBody>
      </p:sp>
      <p:sp>
        <p:nvSpPr>
          <p:cNvPr id="11" name="TextBox 10"/>
          <p:cNvSpPr txBox="1"/>
          <p:nvPr/>
        </p:nvSpPr>
        <p:spPr>
          <a:xfrm>
            <a:off x="4599432" y="2926080"/>
            <a:ext cx="2788920" cy="1828800"/>
          </a:xfrm>
          <a:prstGeom prst="rect">
            <a:avLst/>
          </a:prstGeom>
          <a:noFill/>
        </p:spPr>
        <p:txBody>
          <a:bodyPr wrap="square" lIns="18288" tIns="18288" rIns="18288" bIns="18288" anchor="t">
            <a:spAutoFit/>
          </a:bodyPr>
          <a:lstStyle/>
          <a:p>
            <a:pPr algn="l"/>
            <a:r>
              <a:rPr sz="1150" b="0">
                <a:solidFill>
                  <a:srgbClr val="686069"/>
                </a:solidFill>
                <a:latin typeface="Aptos"/>
              </a:rPr>
              <a:t>Seed high-quality supply
Build community &amp; event loops
Develop repeatable acquisition playbooks
Turn high-intent discovery into revenue</a:t>
            </a:r>
          </a:p>
        </p:txBody>
      </p:sp>
      <p:sp>
        <p:nvSpPr>
          <p:cNvPr id="12" name="Rounded Rectangle 11"/>
          <p:cNvSpPr/>
          <p:nvPr/>
        </p:nvSpPr>
        <p:spPr>
          <a:xfrm>
            <a:off x="8101583" y="1965960"/>
            <a:ext cx="3337560" cy="338328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30183" y="2286000"/>
            <a:ext cx="2743200" cy="365760"/>
          </a:xfrm>
          <a:prstGeom prst="rect">
            <a:avLst/>
          </a:prstGeom>
          <a:noFill/>
        </p:spPr>
        <p:txBody>
          <a:bodyPr wrap="square" lIns="18288" tIns="18288" rIns="18288" bIns="18288" anchor="t">
            <a:spAutoFit/>
          </a:bodyPr>
          <a:lstStyle/>
          <a:p>
            <a:pPr algn="l"/>
            <a:r>
              <a:rPr sz="1600" b="1">
                <a:solidFill>
                  <a:srgbClr val="4A0139"/>
                </a:solidFill>
                <a:latin typeface="Aptos"/>
              </a:rPr>
              <a:t>BUSINESS</a:t>
            </a:r>
          </a:p>
        </p:txBody>
      </p:sp>
      <p:sp>
        <p:nvSpPr>
          <p:cNvPr id="14" name="TextBox 13"/>
          <p:cNvSpPr txBox="1"/>
          <p:nvPr/>
        </p:nvSpPr>
        <p:spPr>
          <a:xfrm>
            <a:off x="8330183" y="2926080"/>
            <a:ext cx="2788920" cy="1828800"/>
          </a:xfrm>
          <a:prstGeom prst="rect">
            <a:avLst/>
          </a:prstGeom>
          <a:noFill/>
        </p:spPr>
        <p:txBody>
          <a:bodyPr wrap="square" lIns="18288" tIns="18288" rIns="18288" bIns="18288" anchor="t">
            <a:spAutoFit/>
          </a:bodyPr>
          <a:lstStyle/>
          <a:p>
            <a:pPr algn="l"/>
            <a:r>
              <a:rPr sz="1150" b="0">
                <a:solidFill>
                  <a:srgbClr val="686069"/>
                </a:solidFill>
                <a:latin typeface="Aptos"/>
              </a:rPr>
              <a:t>Launch paid organization/professional products
Validate pricing and conversion
Build recurring revenue discipline
Prepare for the next financing milestone</a:t>
            </a:r>
          </a:p>
        </p:txBody>
      </p:sp>
      <p:sp>
        <p:nvSpPr>
          <p:cNvPr id="15" name="TextBox 14"/>
          <p:cNvSpPr txBox="1"/>
          <p:nvPr/>
        </p:nvSpPr>
        <p:spPr>
          <a:xfrm>
            <a:off x="914400" y="5897880"/>
            <a:ext cx="10332720" cy="365760"/>
          </a:xfrm>
          <a:prstGeom prst="rect">
            <a:avLst/>
          </a:prstGeom>
          <a:noFill/>
        </p:spPr>
        <p:txBody>
          <a:bodyPr wrap="square" lIns="18288" tIns="18288" rIns="18288" bIns="18288" anchor="t">
            <a:spAutoFit/>
          </a:bodyPr>
          <a:lstStyle/>
          <a:p>
            <a:pPr algn="ctr"/>
            <a:r>
              <a:rPr sz="1350" b="1">
                <a:solidFill>
                  <a:srgbClr val="1F1B23"/>
                </a:solidFill>
                <a:latin typeface="Aptos"/>
              </a:rPr>
              <a:t>The round is successful if Pentasent can show that ecosystem density creates measurable retention and willingness to pay.</a:t>
            </a:r>
          </a:p>
        </p:txBody>
      </p:sp>
      <p:cxnSp>
        <p:nvCxnSpPr>
          <p:cNvPr id="16" name="Connector 15"/>
          <p:cNvCxnSpPr/>
          <p:nvPr/>
        </p:nvCxnSpPr>
        <p:spPr>
          <a:xfrm>
            <a:off x="594360" y="6473952"/>
            <a:ext cx="11000232" cy="0"/>
          </a:xfrm>
          <a:prstGeom prst="line">
            <a:avLst/>
          </a:prstGeom>
          <a:ln w="8890">
            <a:solidFill>
              <a:srgbClr val="E0DBD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94360" y="6519672"/>
            <a:ext cx="1280160" cy="164592"/>
          </a:xfrm>
          <a:prstGeom prst="rect">
            <a:avLst/>
          </a:prstGeom>
          <a:noFill/>
        </p:spPr>
        <p:txBody>
          <a:bodyPr wrap="square" lIns="18288" tIns="18288" rIns="18288" bIns="18288" anchor="t">
            <a:spAutoFit/>
          </a:bodyPr>
          <a:lstStyle/>
          <a:p>
            <a:pPr algn="l"/>
            <a:r>
              <a:rPr sz="850" b="1">
                <a:solidFill>
                  <a:srgbClr val="877F87"/>
                </a:solidFill>
                <a:latin typeface="Aptos"/>
              </a:rPr>
              <a:t>Pentasent</a:t>
            </a:r>
          </a:p>
        </p:txBody>
      </p:sp>
      <p:sp>
        <p:nvSpPr>
          <p:cNvPr id="18" name="TextBox 17"/>
          <p:cNvSpPr txBox="1"/>
          <p:nvPr/>
        </p:nvSpPr>
        <p:spPr>
          <a:xfrm>
            <a:off x="11064240" y="6519672"/>
            <a:ext cx="502920" cy="164592"/>
          </a:xfrm>
          <a:prstGeom prst="rect">
            <a:avLst/>
          </a:prstGeom>
          <a:noFill/>
        </p:spPr>
        <p:txBody>
          <a:bodyPr wrap="square" lIns="18288" tIns="18288" rIns="18288" bIns="18288" anchor="t">
            <a:spAutoFit/>
          </a:bodyPr>
          <a:lstStyle/>
          <a:p>
            <a:pPr algn="r"/>
            <a:r>
              <a:rPr sz="850" b="0">
                <a:solidFill>
                  <a:srgbClr val="877F87"/>
                </a:solidFill>
                <a:latin typeface="Aptos"/>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4A0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4023360" cy="256032"/>
          </a:xfrm>
          <a:prstGeom prst="rect">
            <a:avLst/>
          </a:prstGeom>
          <a:noFill/>
        </p:spPr>
        <p:txBody>
          <a:bodyPr wrap="square" lIns="18288" tIns="18288" rIns="18288" bIns="18288" anchor="t">
            <a:spAutoFit/>
          </a:bodyPr>
          <a:lstStyle/>
          <a:p>
            <a:pPr algn="l"/>
            <a:r>
              <a:rPr sz="1000" b="1">
                <a:solidFill>
                  <a:srgbClr val="DCD2DC"/>
                </a:solidFill>
                <a:latin typeface="Aptos"/>
              </a:rPr>
              <a:t>15  /  FOUNDER</a:t>
            </a:r>
          </a:p>
        </p:txBody>
      </p:sp>
      <p:sp>
        <p:nvSpPr>
          <p:cNvPr id="4" name="TextBox 3"/>
          <p:cNvSpPr txBox="1"/>
          <p:nvPr/>
        </p:nvSpPr>
        <p:spPr>
          <a:xfrm>
            <a:off x="594360" y="713232"/>
            <a:ext cx="10972800" cy="621792"/>
          </a:xfrm>
          <a:prstGeom prst="rect">
            <a:avLst/>
          </a:prstGeom>
          <a:noFill/>
        </p:spPr>
        <p:txBody>
          <a:bodyPr wrap="square" lIns="18288" tIns="18288" rIns="18288" bIns="18288" anchor="t">
            <a:spAutoFit/>
          </a:bodyPr>
          <a:lstStyle/>
          <a:p>
            <a:pPr algn="l"/>
            <a:r>
              <a:rPr sz="2800" b="1">
                <a:solidFill>
                  <a:srgbClr val="FFFFFF"/>
                </a:solidFill>
                <a:latin typeface="Aptos"/>
              </a:rPr>
              <a:t>Built by a product-led founder who understands both software and the healthcare problem.</a:t>
            </a:r>
          </a:p>
        </p:txBody>
      </p:sp>
      <p:sp>
        <p:nvSpPr>
          <p:cNvPr id="5" name="TextBox 4"/>
          <p:cNvSpPr txBox="1"/>
          <p:nvPr/>
        </p:nvSpPr>
        <p:spPr>
          <a:xfrm>
            <a:off x="612648" y="1559052"/>
            <a:ext cx="10789920" cy="438912"/>
          </a:xfrm>
          <a:prstGeom prst="rect">
            <a:avLst/>
          </a:prstGeom>
          <a:noFill/>
        </p:spPr>
        <p:txBody>
          <a:bodyPr wrap="square" lIns="18288" tIns="18288" rIns="18288" bIns="18288" anchor="t">
            <a:spAutoFit/>
          </a:bodyPr>
          <a:lstStyle/>
          <a:p>
            <a:pPr algn="l"/>
            <a:r>
              <a:rPr sz="1350" b="0" dirty="0">
                <a:solidFill>
                  <a:srgbClr val="DCD2DC"/>
                </a:solidFill>
                <a:latin typeface="Aptos"/>
              </a:rPr>
              <a:t>Ankit Kumar combines product management, software development and hands-on experience building healthcare products.</a:t>
            </a:r>
          </a:p>
        </p:txBody>
      </p:sp>
      <p:sp>
        <p:nvSpPr>
          <p:cNvPr id="6" name="Rounded Rectangle 5"/>
          <p:cNvSpPr/>
          <p:nvPr/>
        </p:nvSpPr>
        <p:spPr>
          <a:xfrm>
            <a:off x="777240" y="1874519"/>
            <a:ext cx="3703320" cy="3383280"/>
          </a:xfrm>
          <a:prstGeom prst="roundRect">
            <a:avLst/>
          </a:prstGeom>
          <a:solidFill>
            <a:srgbClr val="561645"/>
          </a:solidFill>
          <a:ln w="10160">
            <a:solidFill>
              <a:srgbClr val="7841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97280" y="2286000"/>
            <a:ext cx="914400" cy="914400"/>
          </a:xfrm>
          <a:prstGeom prst="ellipse">
            <a:avLst/>
          </a:prstGeom>
          <a:solidFill>
            <a:srgbClr val="6D2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532888"/>
            <a:ext cx="914400" cy="320040"/>
          </a:xfrm>
          <a:prstGeom prst="rect">
            <a:avLst/>
          </a:prstGeom>
          <a:noFill/>
        </p:spPr>
        <p:txBody>
          <a:bodyPr wrap="square" lIns="18288" tIns="18288" rIns="18288" bIns="18288" anchor="t">
            <a:spAutoFit/>
          </a:bodyPr>
          <a:lstStyle/>
          <a:p>
            <a:pPr algn="ctr"/>
            <a:r>
              <a:rPr sz="2000" b="1">
                <a:solidFill>
                  <a:srgbClr val="FFFFFF"/>
                </a:solidFill>
                <a:latin typeface="Aptos"/>
              </a:rPr>
              <a:t>AK</a:t>
            </a:r>
          </a:p>
        </p:txBody>
      </p:sp>
      <p:sp>
        <p:nvSpPr>
          <p:cNvPr id="9" name="TextBox 8"/>
          <p:cNvSpPr txBox="1"/>
          <p:nvPr/>
        </p:nvSpPr>
        <p:spPr>
          <a:xfrm>
            <a:off x="2240280" y="2331720"/>
            <a:ext cx="1737360" cy="365760"/>
          </a:xfrm>
          <a:prstGeom prst="rect">
            <a:avLst/>
          </a:prstGeom>
          <a:noFill/>
        </p:spPr>
        <p:txBody>
          <a:bodyPr wrap="square" lIns="18288" tIns="18288" rIns="18288" bIns="18288" anchor="t">
            <a:spAutoFit/>
          </a:bodyPr>
          <a:lstStyle/>
          <a:p>
            <a:pPr algn="l"/>
            <a:r>
              <a:rPr sz="1800" b="1">
                <a:solidFill>
                  <a:srgbClr val="FFFFFF"/>
                </a:solidFill>
                <a:latin typeface="Aptos"/>
              </a:rPr>
              <a:t>Ankit Kumar</a:t>
            </a:r>
          </a:p>
        </p:txBody>
      </p:sp>
      <p:sp>
        <p:nvSpPr>
          <p:cNvPr id="10" name="TextBox 9"/>
          <p:cNvSpPr txBox="1"/>
          <p:nvPr/>
        </p:nvSpPr>
        <p:spPr>
          <a:xfrm>
            <a:off x="2240280" y="2743200"/>
            <a:ext cx="1737360" cy="274320"/>
          </a:xfrm>
          <a:prstGeom prst="rect">
            <a:avLst/>
          </a:prstGeom>
          <a:noFill/>
        </p:spPr>
        <p:txBody>
          <a:bodyPr wrap="square" lIns="18288" tIns="18288" rIns="18288" bIns="18288" anchor="t">
            <a:spAutoFit/>
          </a:bodyPr>
          <a:lstStyle/>
          <a:p>
            <a:pPr algn="l"/>
            <a:r>
              <a:rPr sz="1100" b="1">
                <a:solidFill>
                  <a:srgbClr val="EFD5E6"/>
                </a:solidFill>
                <a:latin typeface="Aptos"/>
              </a:rPr>
              <a:t>Founder &amp; Product</a:t>
            </a:r>
          </a:p>
        </p:txBody>
      </p:sp>
      <p:sp>
        <p:nvSpPr>
          <p:cNvPr id="11" name="TextBox 10"/>
          <p:cNvSpPr txBox="1"/>
          <p:nvPr/>
        </p:nvSpPr>
        <p:spPr>
          <a:xfrm>
            <a:off x="1097280" y="3566160"/>
            <a:ext cx="2834640" cy="1097280"/>
          </a:xfrm>
          <a:prstGeom prst="rect">
            <a:avLst/>
          </a:prstGeom>
          <a:noFill/>
        </p:spPr>
        <p:txBody>
          <a:bodyPr wrap="square" lIns="18288" tIns="18288" rIns="18288" bIns="18288" anchor="t">
            <a:spAutoFit/>
          </a:bodyPr>
          <a:lstStyle/>
          <a:p>
            <a:pPr algn="l"/>
            <a:r>
              <a:rPr sz="1120" b="0" dirty="0">
                <a:solidFill>
                  <a:srgbClr val="E7D9E5"/>
                </a:solidFill>
                <a:latin typeface="Aptos"/>
              </a:rPr>
              <a:t>Product management
Software &amp; web product development
Healthcare product building
</a:t>
            </a:r>
            <a:r>
              <a:rPr sz="1120" b="0" dirty="0" err="1">
                <a:solidFill>
                  <a:srgbClr val="E7D9E5"/>
                </a:solidFill>
                <a:latin typeface="Aptos"/>
              </a:rPr>
              <a:t>M.Tech</a:t>
            </a:r>
            <a:r>
              <a:rPr sz="1120" b="0" dirty="0">
                <a:solidFill>
                  <a:srgbClr val="E7D9E5"/>
                </a:solidFill>
                <a:latin typeface="Aptos"/>
              </a:rPr>
              <a:t> CSE • </a:t>
            </a:r>
            <a:r>
              <a:rPr sz="1120" b="0" dirty="0" err="1">
                <a:solidFill>
                  <a:srgbClr val="E7D9E5"/>
                </a:solidFill>
                <a:latin typeface="Aptos"/>
              </a:rPr>
              <a:t>B.Tech</a:t>
            </a:r>
            <a:r>
              <a:rPr sz="1120" b="0" dirty="0">
                <a:solidFill>
                  <a:srgbClr val="E7D9E5"/>
                </a:solidFill>
                <a:latin typeface="Aptos"/>
              </a:rPr>
              <a:t> CSE</a:t>
            </a:r>
          </a:p>
        </p:txBody>
      </p:sp>
      <p:sp>
        <p:nvSpPr>
          <p:cNvPr id="12" name="TextBox 11"/>
          <p:cNvSpPr txBox="1"/>
          <p:nvPr/>
        </p:nvSpPr>
        <p:spPr>
          <a:xfrm>
            <a:off x="5074920" y="1965960"/>
            <a:ext cx="5303520" cy="411480"/>
          </a:xfrm>
          <a:prstGeom prst="rect">
            <a:avLst/>
          </a:prstGeom>
          <a:noFill/>
        </p:spPr>
        <p:txBody>
          <a:bodyPr wrap="square" lIns="18288" tIns="18288" rIns="18288" bIns="18288" anchor="t">
            <a:spAutoFit/>
          </a:bodyPr>
          <a:lstStyle/>
          <a:p>
            <a:pPr algn="l"/>
            <a:r>
              <a:rPr sz="2000" b="1">
                <a:solidFill>
                  <a:srgbClr val="FFFFFF"/>
                </a:solidFill>
                <a:latin typeface="Aptos"/>
              </a:rPr>
              <a:t>Why this founder / market fit</a:t>
            </a:r>
          </a:p>
        </p:txBody>
      </p:sp>
      <p:sp>
        <p:nvSpPr>
          <p:cNvPr id="13" name="Oval 12"/>
          <p:cNvSpPr/>
          <p:nvPr/>
        </p:nvSpPr>
        <p:spPr>
          <a:xfrm>
            <a:off x="5120640" y="2752344"/>
            <a:ext cx="164592" cy="164592"/>
          </a:xfrm>
          <a:prstGeom prst="ellipse">
            <a:avLst/>
          </a:prstGeom>
          <a:solidFill>
            <a:srgbClr val="EFD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40680" y="2697480"/>
            <a:ext cx="5486400" cy="384048"/>
          </a:xfrm>
          <a:prstGeom prst="rect">
            <a:avLst/>
          </a:prstGeom>
          <a:noFill/>
        </p:spPr>
        <p:txBody>
          <a:bodyPr wrap="square" lIns="18288" tIns="18288" rIns="18288" bIns="18288" anchor="t">
            <a:spAutoFit/>
          </a:bodyPr>
          <a:lstStyle/>
          <a:p>
            <a:pPr algn="l"/>
            <a:r>
              <a:rPr sz="1200" b="0">
                <a:solidFill>
                  <a:srgbClr val="EEE2EC"/>
                </a:solidFill>
                <a:latin typeface="Aptos"/>
              </a:rPr>
              <a:t>Thinks in user journeys, not isolated features</a:t>
            </a:r>
          </a:p>
        </p:txBody>
      </p:sp>
      <p:sp>
        <p:nvSpPr>
          <p:cNvPr id="15" name="Oval 14"/>
          <p:cNvSpPr/>
          <p:nvPr/>
        </p:nvSpPr>
        <p:spPr>
          <a:xfrm>
            <a:off x="5120640" y="3410712"/>
            <a:ext cx="164592" cy="164592"/>
          </a:xfrm>
          <a:prstGeom prst="ellipse">
            <a:avLst/>
          </a:prstGeom>
          <a:solidFill>
            <a:srgbClr val="EFD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40680" y="3355848"/>
            <a:ext cx="5486400" cy="384048"/>
          </a:xfrm>
          <a:prstGeom prst="rect">
            <a:avLst/>
          </a:prstGeom>
          <a:noFill/>
        </p:spPr>
        <p:txBody>
          <a:bodyPr wrap="square" lIns="18288" tIns="18288" rIns="18288" bIns="18288" anchor="t">
            <a:spAutoFit/>
          </a:bodyPr>
          <a:lstStyle/>
          <a:p>
            <a:pPr algn="l"/>
            <a:r>
              <a:rPr sz="1200" b="0">
                <a:solidFill>
                  <a:srgbClr val="EEE2EC"/>
                </a:solidFill>
                <a:latin typeface="Aptos"/>
              </a:rPr>
              <a:t>Can take product from idea → design → build → iteration</a:t>
            </a:r>
          </a:p>
        </p:txBody>
      </p:sp>
      <p:sp>
        <p:nvSpPr>
          <p:cNvPr id="17" name="Oval 16"/>
          <p:cNvSpPr/>
          <p:nvPr/>
        </p:nvSpPr>
        <p:spPr>
          <a:xfrm>
            <a:off x="5120640" y="4069080"/>
            <a:ext cx="164592" cy="164592"/>
          </a:xfrm>
          <a:prstGeom prst="ellipse">
            <a:avLst/>
          </a:prstGeom>
          <a:solidFill>
            <a:srgbClr val="EFD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40680" y="4014216"/>
            <a:ext cx="5486400" cy="384048"/>
          </a:xfrm>
          <a:prstGeom prst="rect">
            <a:avLst/>
          </a:prstGeom>
          <a:noFill/>
        </p:spPr>
        <p:txBody>
          <a:bodyPr wrap="square" lIns="18288" tIns="18288" rIns="18288" bIns="18288" anchor="t">
            <a:spAutoFit/>
          </a:bodyPr>
          <a:lstStyle/>
          <a:p>
            <a:pPr algn="l"/>
            <a:r>
              <a:rPr sz="1200" b="0">
                <a:solidFill>
                  <a:srgbClr val="EEE2EC"/>
                </a:solidFill>
                <a:latin typeface="Aptos"/>
              </a:rPr>
              <a:t>Already operating the Pentasent product and infrastructure</a:t>
            </a:r>
          </a:p>
        </p:txBody>
      </p:sp>
      <p:sp>
        <p:nvSpPr>
          <p:cNvPr id="19" name="Oval 18"/>
          <p:cNvSpPr/>
          <p:nvPr/>
        </p:nvSpPr>
        <p:spPr>
          <a:xfrm>
            <a:off x="5120640" y="4727448"/>
            <a:ext cx="164592" cy="164592"/>
          </a:xfrm>
          <a:prstGeom prst="ellipse">
            <a:avLst/>
          </a:prstGeom>
          <a:solidFill>
            <a:srgbClr val="EFD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40680" y="4672584"/>
            <a:ext cx="5486400" cy="384048"/>
          </a:xfrm>
          <a:prstGeom prst="rect">
            <a:avLst/>
          </a:prstGeom>
          <a:noFill/>
        </p:spPr>
        <p:txBody>
          <a:bodyPr wrap="square" lIns="18288" tIns="18288" rIns="18288" bIns="18288" anchor="t">
            <a:spAutoFit/>
          </a:bodyPr>
          <a:lstStyle/>
          <a:p>
            <a:pPr algn="l"/>
            <a:r>
              <a:rPr sz="1200" b="0">
                <a:solidFill>
                  <a:srgbClr val="EEE2EC"/>
                </a:solidFill>
                <a:latin typeface="Aptos"/>
              </a:rPr>
              <a:t>Focused on a long-term healthcare ecosystem rather than a single feature</a:t>
            </a:r>
          </a:p>
        </p:txBody>
      </p:sp>
      <p:cxnSp>
        <p:nvCxnSpPr>
          <p:cNvPr id="21" name="Connector 20"/>
          <p:cNvCxnSpPr/>
          <p:nvPr/>
        </p:nvCxnSpPr>
        <p:spPr>
          <a:xfrm>
            <a:off x="594360" y="6473952"/>
            <a:ext cx="11000232" cy="0"/>
          </a:xfrm>
          <a:prstGeom prst="line">
            <a:avLst/>
          </a:prstGeom>
          <a:ln w="8890">
            <a:solidFill>
              <a:srgbClr val="5A325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519672"/>
            <a:ext cx="1280160" cy="164592"/>
          </a:xfrm>
          <a:prstGeom prst="rect">
            <a:avLst/>
          </a:prstGeom>
          <a:noFill/>
        </p:spPr>
        <p:txBody>
          <a:bodyPr wrap="square" lIns="18288" tIns="18288" rIns="18288" bIns="18288" anchor="t">
            <a:spAutoFit/>
          </a:bodyPr>
          <a:lstStyle/>
          <a:p>
            <a:pPr algn="l"/>
            <a:r>
              <a:rPr sz="850" b="1">
                <a:solidFill>
                  <a:srgbClr val="D5C8D3"/>
                </a:solidFill>
                <a:latin typeface="Aptos"/>
              </a:rPr>
              <a:t>Pentasent</a:t>
            </a:r>
          </a:p>
        </p:txBody>
      </p:sp>
      <p:sp>
        <p:nvSpPr>
          <p:cNvPr id="23" name="TextBox 22"/>
          <p:cNvSpPr txBox="1"/>
          <p:nvPr/>
        </p:nvSpPr>
        <p:spPr>
          <a:xfrm>
            <a:off x="11064240" y="6519672"/>
            <a:ext cx="502920" cy="164592"/>
          </a:xfrm>
          <a:prstGeom prst="rect">
            <a:avLst/>
          </a:prstGeom>
          <a:noFill/>
        </p:spPr>
        <p:txBody>
          <a:bodyPr wrap="square" lIns="18288" tIns="18288" rIns="18288" bIns="18288" anchor="t">
            <a:spAutoFit/>
          </a:bodyPr>
          <a:lstStyle/>
          <a:p>
            <a:pPr algn="r"/>
            <a:r>
              <a:rPr sz="850" b="0">
                <a:solidFill>
                  <a:srgbClr val="D5C8D3"/>
                </a:solidFill>
                <a:latin typeface="Aptos"/>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4023360" cy="256032"/>
          </a:xfrm>
          <a:prstGeom prst="rect">
            <a:avLst/>
          </a:prstGeom>
          <a:noFill/>
        </p:spPr>
        <p:txBody>
          <a:bodyPr wrap="square" lIns="18288" tIns="18288" rIns="18288" bIns="18288" anchor="t">
            <a:spAutoFit/>
          </a:bodyPr>
          <a:lstStyle/>
          <a:p>
            <a:pPr algn="l"/>
            <a:r>
              <a:rPr sz="1000" b="1">
                <a:solidFill>
                  <a:srgbClr val="686069"/>
                </a:solidFill>
                <a:latin typeface="Aptos"/>
              </a:rPr>
              <a:t>16  /  THE OPPORTUNITY</a:t>
            </a:r>
          </a:p>
        </p:txBody>
      </p:sp>
      <p:sp>
        <p:nvSpPr>
          <p:cNvPr id="4" name="TextBox 3"/>
          <p:cNvSpPr txBox="1"/>
          <p:nvPr/>
        </p:nvSpPr>
        <p:spPr>
          <a:xfrm>
            <a:off x="594360" y="713232"/>
            <a:ext cx="10972800" cy="621792"/>
          </a:xfrm>
          <a:prstGeom prst="rect">
            <a:avLst/>
          </a:prstGeom>
          <a:noFill/>
        </p:spPr>
        <p:txBody>
          <a:bodyPr wrap="square" lIns="18288" tIns="18288" rIns="18288" bIns="18288" anchor="t">
            <a:spAutoFit/>
          </a:bodyPr>
          <a:lstStyle/>
          <a:p>
            <a:pPr algn="l"/>
            <a:r>
              <a:rPr sz="2800" b="1">
                <a:solidFill>
                  <a:srgbClr val="1F1B23"/>
                </a:solidFill>
                <a:latin typeface="Aptos"/>
              </a:rPr>
              <a:t>Pentasent can become the place where healthcare participation starts.</a:t>
            </a:r>
          </a:p>
        </p:txBody>
      </p:sp>
      <p:sp>
        <p:nvSpPr>
          <p:cNvPr id="5" name="TextBox 4"/>
          <p:cNvSpPr txBox="1"/>
          <p:nvPr/>
        </p:nvSpPr>
        <p:spPr>
          <a:xfrm>
            <a:off x="594360" y="1549908"/>
            <a:ext cx="10789920" cy="438912"/>
          </a:xfrm>
          <a:prstGeom prst="rect">
            <a:avLst/>
          </a:prstGeom>
          <a:noFill/>
        </p:spPr>
        <p:txBody>
          <a:bodyPr wrap="square" lIns="18288" tIns="18288" rIns="18288" bIns="18288" anchor="t">
            <a:spAutoFit/>
          </a:bodyPr>
          <a:lstStyle/>
          <a:p>
            <a:pPr algn="l"/>
            <a:r>
              <a:rPr sz="1350" b="0" dirty="0">
                <a:solidFill>
                  <a:srgbClr val="686069"/>
                </a:solidFill>
                <a:latin typeface="Aptos"/>
              </a:rPr>
              <a:t>Not another destination for one healthcare task—an ecosystem where people, organizations, products and innovation reinforce one another.</a:t>
            </a:r>
          </a:p>
        </p:txBody>
      </p:sp>
      <p:sp>
        <p:nvSpPr>
          <p:cNvPr id="6" name="Oval 5"/>
          <p:cNvSpPr/>
          <p:nvPr/>
        </p:nvSpPr>
        <p:spPr>
          <a:xfrm>
            <a:off x="5408676" y="2889504"/>
            <a:ext cx="1371600" cy="1371600"/>
          </a:xfrm>
          <a:prstGeom prst="ellipse">
            <a:avLst/>
          </a:prstGeom>
          <a:solidFill>
            <a:srgbClr val="4A0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600"/>
          </a:p>
        </p:txBody>
      </p:sp>
      <p:sp>
        <p:nvSpPr>
          <p:cNvPr id="7" name="TextBox 6"/>
          <p:cNvSpPr txBox="1"/>
          <p:nvPr/>
        </p:nvSpPr>
        <p:spPr>
          <a:xfrm>
            <a:off x="5486400" y="3493008"/>
            <a:ext cx="1188720" cy="320040"/>
          </a:xfrm>
          <a:prstGeom prst="rect">
            <a:avLst/>
          </a:prstGeom>
          <a:noFill/>
        </p:spPr>
        <p:txBody>
          <a:bodyPr wrap="square" lIns="18288" tIns="18288" rIns="18288" bIns="18288" anchor="t">
            <a:spAutoFit/>
          </a:bodyPr>
          <a:lstStyle/>
          <a:p>
            <a:pPr algn="ctr"/>
            <a:r>
              <a:rPr sz="1200" b="1">
                <a:solidFill>
                  <a:srgbClr val="FFFFFF"/>
                </a:solidFill>
                <a:latin typeface="Aptos"/>
              </a:rPr>
              <a:t>PENTASENT</a:t>
            </a:r>
          </a:p>
        </p:txBody>
      </p:sp>
      <p:sp>
        <p:nvSpPr>
          <p:cNvPr id="8" name="Rounded Rectangle 7"/>
          <p:cNvSpPr/>
          <p:nvPr/>
        </p:nvSpPr>
        <p:spPr>
          <a:xfrm>
            <a:off x="1828800" y="2057400"/>
            <a:ext cx="2011680" cy="73152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965960" y="2258568"/>
            <a:ext cx="1737360" cy="274320"/>
          </a:xfrm>
          <a:prstGeom prst="rect">
            <a:avLst/>
          </a:prstGeom>
          <a:noFill/>
        </p:spPr>
        <p:txBody>
          <a:bodyPr wrap="square" lIns="18288" tIns="18288" rIns="18288" bIns="18288" anchor="t">
            <a:spAutoFit/>
          </a:bodyPr>
          <a:lstStyle/>
          <a:p>
            <a:pPr algn="ctr"/>
            <a:r>
              <a:rPr sz="1200" b="1">
                <a:solidFill>
                  <a:srgbClr val="1F1B23"/>
                </a:solidFill>
                <a:latin typeface="Aptos"/>
              </a:rPr>
              <a:t>More people</a:t>
            </a:r>
          </a:p>
        </p:txBody>
      </p:sp>
      <p:cxnSp>
        <p:nvCxnSpPr>
          <p:cNvPr id="10" name="Connector 9"/>
          <p:cNvCxnSpPr>
            <a:cxnSpLocks/>
            <a:endCxn id="8" idx="3"/>
          </p:cNvCxnSpPr>
          <p:nvPr/>
        </p:nvCxnSpPr>
        <p:spPr>
          <a:xfrm flipH="1" flipV="1">
            <a:off x="3840480" y="2423160"/>
            <a:ext cx="2240280" cy="1234440"/>
          </a:xfrm>
          <a:prstGeom prst="line">
            <a:avLst/>
          </a:prstGeom>
          <a:ln w="16510">
            <a:solidFill>
              <a:srgbClr val="CDC3CF"/>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183879" y="2057400"/>
            <a:ext cx="2011680" cy="73152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21040" y="2258568"/>
            <a:ext cx="1737360" cy="274320"/>
          </a:xfrm>
          <a:prstGeom prst="rect">
            <a:avLst/>
          </a:prstGeom>
          <a:noFill/>
        </p:spPr>
        <p:txBody>
          <a:bodyPr wrap="square" lIns="18288" tIns="18288" rIns="18288" bIns="18288" anchor="t">
            <a:spAutoFit/>
          </a:bodyPr>
          <a:lstStyle/>
          <a:p>
            <a:pPr algn="ctr"/>
            <a:r>
              <a:rPr sz="1200" b="1">
                <a:solidFill>
                  <a:srgbClr val="1F1B23"/>
                </a:solidFill>
                <a:latin typeface="Aptos"/>
              </a:rPr>
              <a:t>More organizations</a:t>
            </a:r>
          </a:p>
        </p:txBody>
      </p:sp>
      <p:cxnSp>
        <p:nvCxnSpPr>
          <p:cNvPr id="13" name="Connector 12"/>
          <p:cNvCxnSpPr>
            <a:cxnSpLocks/>
            <a:endCxn id="11" idx="1"/>
          </p:cNvCxnSpPr>
          <p:nvPr/>
        </p:nvCxnSpPr>
        <p:spPr>
          <a:xfrm flipV="1">
            <a:off x="6080760" y="2423160"/>
            <a:ext cx="2103119" cy="1234440"/>
          </a:xfrm>
          <a:prstGeom prst="line">
            <a:avLst/>
          </a:prstGeom>
          <a:ln w="16510">
            <a:solidFill>
              <a:srgbClr val="CDC3CF"/>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412480" y="4663440"/>
            <a:ext cx="2011680" cy="73152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49640" y="4864607"/>
            <a:ext cx="1737360" cy="274320"/>
          </a:xfrm>
          <a:prstGeom prst="rect">
            <a:avLst/>
          </a:prstGeom>
          <a:noFill/>
        </p:spPr>
        <p:txBody>
          <a:bodyPr wrap="square" lIns="18288" tIns="18288" rIns="18288" bIns="18288" anchor="t">
            <a:spAutoFit/>
          </a:bodyPr>
          <a:lstStyle/>
          <a:p>
            <a:pPr algn="ctr"/>
            <a:r>
              <a:rPr sz="1200" b="1">
                <a:solidFill>
                  <a:srgbClr val="1F1B23"/>
                </a:solidFill>
                <a:latin typeface="Aptos"/>
              </a:rPr>
              <a:t>More products</a:t>
            </a:r>
          </a:p>
        </p:txBody>
      </p:sp>
      <p:cxnSp>
        <p:nvCxnSpPr>
          <p:cNvPr id="16" name="Connector 15"/>
          <p:cNvCxnSpPr>
            <a:cxnSpLocks/>
            <a:endCxn id="14" idx="1"/>
          </p:cNvCxnSpPr>
          <p:nvPr/>
        </p:nvCxnSpPr>
        <p:spPr>
          <a:xfrm>
            <a:off x="6080760" y="3657600"/>
            <a:ext cx="2331720" cy="1371600"/>
          </a:xfrm>
          <a:prstGeom prst="line">
            <a:avLst/>
          </a:prstGeom>
          <a:ln w="16510">
            <a:solidFill>
              <a:srgbClr val="CDC3C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828800" y="4663440"/>
            <a:ext cx="2011680" cy="73152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965960" y="4864607"/>
            <a:ext cx="1737360" cy="274320"/>
          </a:xfrm>
          <a:prstGeom prst="rect">
            <a:avLst/>
          </a:prstGeom>
          <a:noFill/>
        </p:spPr>
        <p:txBody>
          <a:bodyPr wrap="square" lIns="18288" tIns="18288" rIns="18288" bIns="18288" anchor="t">
            <a:spAutoFit/>
          </a:bodyPr>
          <a:lstStyle/>
          <a:p>
            <a:pPr algn="ctr"/>
            <a:r>
              <a:rPr sz="1200" b="1">
                <a:solidFill>
                  <a:srgbClr val="1F1B23"/>
                </a:solidFill>
                <a:latin typeface="Aptos"/>
              </a:rPr>
              <a:t>More communities</a:t>
            </a:r>
          </a:p>
        </p:txBody>
      </p:sp>
      <p:cxnSp>
        <p:nvCxnSpPr>
          <p:cNvPr id="19" name="Connector 18"/>
          <p:cNvCxnSpPr>
            <a:cxnSpLocks/>
            <a:endCxn id="17" idx="3"/>
          </p:cNvCxnSpPr>
          <p:nvPr/>
        </p:nvCxnSpPr>
        <p:spPr>
          <a:xfrm flipH="1">
            <a:off x="3840480" y="3657600"/>
            <a:ext cx="2240280" cy="1371600"/>
          </a:xfrm>
          <a:prstGeom prst="line">
            <a:avLst/>
          </a:prstGeom>
          <a:ln w="16510">
            <a:solidFill>
              <a:srgbClr val="CDC3C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074920" y="1554480"/>
            <a:ext cx="2011680" cy="274320"/>
          </a:xfrm>
          <a:prstGeom prst="rect">
            <a:avLst/>
          </a:prstGeom>
          <a:noFill/>
        </p:spPr>
        <p:txBody>
          <a:bodyPr wrap="square" lIns="18288" tIns="18288" rIns="18288" bIns="18288" anchor="t">
            <a:spAutoFit/>
          </a:bodyPr>
          <a:lstStyle/>
          <a:p>
            <a:pPr algn="ctr"/>
            <a:r>
              <a:rPr sz="1100" b="1">
                <a:solidFill>
                  <a:srgbClr val="EFD5E6"/>
                </a:solidFill>
                <a:latin typeface="Aptos"/>
              </a:rPr>
              <a:t>DISCOVERY</a:t>
            </a:r>
          </a:p>
        </p:txBody>
      </p:sp>
      <p:sp>
        <p:nvSpPr>
          <p:cNvPr id="21" name="TextBox 20"/>
          <p:cNvSpPr txBox="1"/>
          <p:nvPr/>
        </p:nvSpPr>
        <p:spPr>
          <a:xfrm>
            <a:off x="4800600" y="5394960"/>
            <a:ext cx="2560320" cy="274320"/>
          </a:xfrm>
          <a:prstGeom prst="rect">
            <a:avLst/>
          </a:prstGeom>
          <a:noFill/>
        </p:spPr>
        <p:txBody>
          <a:bodyPr wrap="square" lIns="18288" tIns="18288" rIns="18288" bIns="18288" anchor="t">
            <a:spAutoFit/>
          </a:bodyPr>
          <a:lstStyle/>
          <a:p>
            <a:pPr algn="ctr"/>
            <a:r>
              <a:rPr sz="1100" b="1">
                <a:solidFill>
                  <a:srgbClr val="4A0139"/>
                </a:solidFill>
                <a:latin typeface="Aptos"/>
              </a:rPr>
              <a:t>PARTICIPATION</a:t>
            </a:r>
          </a:p>
        </p:txBody>
      </p:sp>
      <p:sp>
        <p:nvSpPr>
          <p:cNvPr id="22" name="TextBox 21"/>
          <p:cNvSpPr txBox="1"/>
          <p:nvPr/>
        </p:nvSpPr>
        <p:spPr>
          <a:xfrm>
            <a:off x="1920240" y="5897880"/>
            <a:ext cx="8412480" cy="347472"/>
          </a:xfrm>
          <a:prstGeom prst="rect">
            <a:avLst/>
          </a:prstGeom>
          <a:noFill/>
        </p:spPr>
        <p:txBody>
          <a:bodyPr wrap="square" lIns="18288" tIns="18288" rIns="18288" bIns="18288" anchor="t">
            <a:spAutoFit/>
          </a:bodyPr>
          <a:lstStyle/>
          <a:p>
            <a:pPr algn="ctr"/>
            <a:r>
              <a:rPr sz="1350" b="1">
                <a:solidFill>
                  <a:srgbClr val="4A0139"/>
                </a:solidFill>
                <a:latin typeface="Aptos"/>
              </a:rPr>
              <a:t>We are raising €750k to prove this loop—and build the foundation for the next stage.</a:t>
            </a:r>
          </a:p>
        </p:txBody>
      </p:sp>
      <p:cxnSp>
        <p:nvCxnSpPr>
          <p:cNvPr id="23" name="Connector 22"/>
          <p:cNvCxnSpPr/>
          <p:nvPr/>
        </p:nvCxnSpPr>
        <p:spPr>
          <a:xfrm>
            <a:off x="594360" y="6473952"/>
            <a:ext cx="11000232" cy="0"/>
          </a:xfrm>
          <a:prstGeom prst="line">
            <a:avLst/>
          </a:prstGeom>
          <a:ln w="8890">
            <a:solidFill>
              <a:srgbClr val="E0DBD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94360" y="6519672"/>
            <a:ext cx="1280160" cy="164592"/>
          </a:xfrm>
          <a:prstGeom prst="rect">
            <a:avLst/>
          </a:prstGeom>
          <a:noFill/>
        </p:spPr>
        <p:txBody>
          <a:bodyPr wrap="square" lIns="18288" tIns="18288" rIns="18288" bIns="18288" anchor="t">
            <a:spAutoFit/>
          </a:bodyPr>
          <a:lstStyle/>
          <a:p>
            <a:pPr algn="l"/>
            <a:r>
              <a:rPr sz="850" b="1">
                <a:solidFill>
                  <a:srgbClr val="877F87"/>
                </a:solidFill>
                <a:latin typeface="Aptos"/>
              </a:rPr>
              <a:t>Pentasent</a:t>
            </a:r>
          </a:p>
        </p:txBody>
      </p:sp>
      <p:sp>
        <p:nvSpPr>
          <p:cNvPr id="25" name="TextBox 24"/>
          <p:cNvSpPr txBox="1"/>
          <p:nvPr/>
        </p:nvSpPr>
        <p:spPr>
          <a:xfrm>
            <a:off x="11064240" y="6519672"/>
            <a:ext cx="502920" cy="164592"/>
          </a:xfrm>
          <a:prstGeom prst="rect">
            <a:avLst/>
          </a:prstGeom>
          <a:noFill/>
        </p:spPr>
        <p:txBody>
          <a:bodyPr wrap="square" lIns="18288" tIns="18288" rIns="18288" bIns="18288" anchor="t">
            <a:spAutoFit/>
          </a:bodyPr>
          <a:lstStyle/>
          <a:p>
            <a:pPr algn="r"/>
            <a:r>
              <a:rPr sz="850" b="0">
                <a:solidFill>
                  <a:srgbClr val="877F87"/>
                </a:solidFill>
                <a:latin typeface="Aptos"/>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4023360" cy="256032"/>
          </a:xfrm>
          <a:prstGeom prst="rect">
            <a:avLst/>
          </a:prstGeom>
          <a:noFill/>
        </p:spPr>
        <p:txBody>
          <a:bodyPr wrap="square" lIns="18288" tIns="18288" rIns="18288" bIns="18288" anchor="t">
            <a:spAutoFit/>
          </a:bodyPr>
          <a:lstStyle/>
          <a:p>
            <a:pPr algn="l"/>
            <a:r>
              <a:rPr sz="1000" b="1">
                <a:solidFill>
                  <a:srgbClr val="686069"/>
                </a:solidFill>
                <a:latin typeface="Aptos"/>
              </a:rPr>
              <a:t>17  /  APPENDIX</a:t>
            </a:r>
          </a:p>
        </p:txBody>
      </p:sp>
      <p:sp>
        <p:nvSpPr>
          <p:cNvPr id="4" name="TextBox 3"/>
          <p:cNvSpPr txBox="1"/>
          <p:nvPr/>
        </p:nvSpPr>
        <p:spPr>
          <a:xfrm>
            <a:off x="594360" y="713232"/>
            <a:ext cx="10972800" cy="621792"/>
          </a:xfrm>
          <a:prstGeom prst="rect">
            <a:avLst/>
          </a:prstGeom>
          <a:noFill/>
        </p:spPr>
        <p:txBody>
          <a:bodyPr wrap="square" lIns="18288" tIns="18288" rIns="18288" bIns="18288" anchor="t">
            <a:spAutoFit/>
          </a:bodyPr>
          <a:lstStyle/>
          <a:p>
            <a:pPr algn="l"/>
            <a:r>
              <a:rPr sz="2800" b="1">
                <a:solidFill>
                  <a:srgbClr val="1F1B23"/>
                </a:solidFill>
                <a:latin typeface="Aptos"/>
              </a:rPr>
              <a:t>Selected market evidence &amp; fundraising notes</a:t>
            </a:r>
          </a:p>
        </p:txBody>
      </p:sp>
      <p:sp>
        <p:nvSpPr>
          <p:cNvPr id="5" name="TextBox 4"/>
          <p:cNvSpPr txBox="1"/>
          <p:nvPr/>
        </p:nvSpPr>
        <p:spPr>
          <a:xfrm>
            <a:off x="612648" y="1353312"/>
            <a:ext cx="10789920" cy="438912"/>
          </a:xfrm>
          <a:prstGeom prst="rect">
            <a:avLst/>
          </a:prstGeom>
          <a:noFill/>
        </p:spPr>
        <p:txBody>
          <a:bodyPr wrap="square" lIns="18288" tIns="18288" rIns="18288" bIns="18288" anchor="t">
            <a:spAutoFit/>
          </a:bodyPr>
          <a:lstStyle/>
          <a:p>
            <a:pPr algn="l"/>
            <a:r>
              <a:rPr sz="1350" b="0">
                <a:solidFill>
                  <a:srgbClr val="686069"/>
                </a:solidFill>
                <a:latin typeface="Aptos"/>
              </a:rPr>
              <a:t>Reference material for investor diligence.</a:t>
            </a:r>
          </a:p>
        </p:txBody>
      </p:sp>
      <p:sp>
        <p:nvSpPr>
          <p:cNvPr id="6" name="Rounded Rectangle 5"/>
          <p:cNvSpPr/>
          <p:nvPr/>
        </p:nvSpPr>
        <p:spPr>
          <a:xfrm>
            <a:off x="640080" y="1874519"/>
            <a:ext cx="10972800" cy="3611880"/>
          </a:xfrm>
          <a:prstGeom prst="roundRect">
            <a:avLst/>
          </a:prstGeom>
          <a:solidFill>
            <a:srgbClr val="FFFFFF"/>
          </a:solidFill>
          <a:ln w="10160">
            <a:solidFill>
              <a:srgbClr val="E0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263141"/>
            <a:ext cx="3200400" cy="274320"/>
          </a:xfrm>
          <a:prstGeom prst="rect">
            <a:avLst/>
          </a:prstGeom>
          <a:noFill/>
        </p:spPr>
        <p:txBody>
          <a:bodyPr wrap="square" lIns="18288" tIns="18288" rIns="18288" bIns="18288" anchor="t">
            <a:spAutoFit/>
          </a:bodyPr>
          <a:lstStyle/>
          <a:p>
            <a:pPr algn="l"/>
            <a:r>
              <a:rPr sz="1200" b="1" dirty="0">
                <a:solidFill>
                  <a:srgbClr val="4A0139"/>
                </a:solidFill>
                <a:latin typeface="Aptos"/>
              </a:rPr>
              <a:t>MARKET / INFRASTRUCTURE</a:t>
            </a:r>
          </a:p>
        </p:txBody>
      </p:sp>
      <p:sp>
        <p:nvSpPr>
          <p:cNvPr id="8" name="TextBox 7"/>
          <p:cNvSpPr txBox="1"/>
          <p:nvPr/>
        </p:nvSpPr>
        <p:spPr>
          <a:xfrm>
            <a:off x="914400" y="2560320"/>
            <a:ext cx="10241280" cy="1371600"/>
          </a:xfrm>
          <a:prstGeom prst="rect">
            <a:avLst/>
          </a:prstGeom>
          <a:noFill/>
        </p:spPr>
        <p:txBody>
          <a:bodyPr wrap="square" lIns="18288" tIns="18288" rIns="18288" bIns="18288" anchor="t">
            <a:spAutoFit/>
          </a:bodyPr>
          <a:lstStyle/>
          <a:p>
            <a:pPr algn="l"/>
            <a:r>
              <a:rPr sz="1030" b="0">
                <a:solidFill>
                  <a:srgbClr val="686069"/>
                </a:solidFill>
                <a:latin typeface="Aptos"/>
              </a:rPr>
              <a:t>• Government of India, Ministry of Health &amp; Family Welfare / ABDM: 86,96,38,083 ABHA accounts; 4,85,760 facilities on HFR; 8,35,477 professionals on HPR as of 22 March 2026.
• Grand View Research: India digital health market estimated at $17.81B in 2025; projected $106.97B by 2033 (25.12% CAGR).
• Grand View Research: India mHealth apps market projected at $4.827B by 2030; 17.1% CAGR from 2024–2030.</a:t>
            </a:r>
          </a:p>
        </p:txBody>
      </p:sp>
      <p:sp>
        <p:nvSpPr>
          <p:cNvPr id="9" name="TextBox 8"/>
          <p:cNvSpPr txBox="1"/>
          <p:nvPr/>
        </p:nvSpPr>
        <p:spPr>
          <a:xfrm>
            <a:off x="914400" y="3264408"/>
            <a:ext cx="3200400" cy="274320"/>
          </a:xfrm>
          <a:prstGeom prst="rect">
            <a:avLst/>
          </a:prstGeom>
          <a:noFill/>
        </p:spPr>
        <p:txBody>
          <a:bodyPr wrap="square" lIns="18288" tIns="18288" rIns="18288" bIns="18288" anchor="t">
            <a:spAutoFit/>
          </a:bodyPr>
          <a:lstStyle/>
          <a:p>
            <a:pPr algn="l"/>
            <a:r>
              <a:rPr sz="1200" b="1" dirty="0">
                <a:solidFill>
                  <a:srgbClr val="4A0139"/>
                </a:solidFill>
                <a:latin typeface="Aptos"/>
              </a:rPr>
              <a:t>FUNDRAISING</a:t>
            </a:r>
          </a:p>
        </p:txBody>
      </p:sp>
      <p:sp>
        <p:nvSpPr>
          <p:cNvPr id="10" name="TextBox 9"/>
          <p:cNvSpPr txBox="1"/>
          <p:nvPr/>
        </p:nvSpPr>
        <p:spPr>
          <a:xfrm>
            <a:off x="886968" y="3543054"/>
            <a:ext cx="10241280" cy="1005840"/>
          </a:xfrm>
          <a:prstGeom prst="rect">
            <a:avLst/>
          </a:prstGeom>
          <a:noFill/>
        </p:spPr>
        <p:txBody>
          <a:bodyPr wrap="square" lIns="18288" tIns="18288" rIns="18288" bIns="18288" anchor="t">
            <a:spAutoFit/>
          </a:bodyPr>
          <a:lstStyle/>
          <a:p>
            <a:pPr algn="l"/>
            <a:r>
              <a:rPr sz="1030" b="0" dirty="0">
                <a:solidFill>
                  <a:srgbClr val="686069"/>
                </a:solidFill>
                <a:latin typeface="Aptos"/>
              </a:rPr>
              <a:t>• Target raise: €750k
• Target dilution: ~10–12%
• Planning runway: ~24 months
• Capital allocation: 45% product/engineering, 30% growth/ecosystem, 15% operations, 10% compliance/legal/contingency
• The valuation should be negotiated against evidence and founder dilution—not treated as a fixed claim in this deck.</a:t>
            </a:r>
          </a:p>
        </p:txBody>
      </p:sp>
      <p:cxnSp>
        <p:nvCxnSpPr>
          <p:cNvPr id="11" name="Connector 10"/>
          <p:cNvCxnSpPr/>
          <p:nvPr/>
        </p:nvCxnSpPr>
        <p:spPr>
          <a:xfrm>
            <a:off x="594360" y="6473952"/>
            <a:ext cx="11000232" cy="0"/>
          </a:xfrm>
          <a:prstGeom prst="line">
            <a:avLst/>
          </a:prstGeom>
          <a:ln w="8890">
            <a:solidFill>
              <a:srgbClr val="E0DBD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94360" y="6519672"/>
            <a:ext cx="1280160" cy="164592"/>
          </a:xfrm>
          <a:prstGeom prst="rect">
            <a:avLst/>
          </a:prstGeom>
          <a:noFill/>
        </p:spPr>
        <p:txBody>
          <a:bodyPr wrap="square" lIns="18288" tIns="18288" rIns="18288" bIns="18288" anchor="t">
            <a:spAutoFit/>
          </a:bodyPr>
          <a:lstStyle/>
          <a:p>
            <a:pPr algn="l"/>
            <a:r>
              <a:rPr sz="850" b="1">
                <a:solidFill>
                  <a:srgbClr val="877F87"/>
                </a:solidFill>
                <a:latin typeface="Aptos"/>
              </a:rPr>
              <a:t>Pentasent</a:t>
            </a:r>
          </a:p>
        </p:txBody>
      </p:sp>
      <p:sp>
        <p:nvSpPr>
          <p:cNvPr id="13" name="TextBox 12"/>
          <p:cNvSpPr txBox="1"/>
          <p:nvPr/>
        </p:nvSpPr>
        <p:spPr>
          <a:xfrm>
            <a:off x="11064240" y="6519672"/>
            <a:ext cx="502920" cy="164592"/>
          </a:xfrm>
          <a:prstGeom prst="rect">
            <a:avLst/>
          </a:prstGeom>
          <a:noFill/>
        </p:spPr>
        <p:txBody>
          <a:bodyPr wrap="square" lIns="18288" tIns="18288" rIns="18288" bIns="18288" anchor="t">
            <a:spAutoFit/>
          </a:bodyPr>
          <a:lstStyle/>
          <a:p>
            <a:pPr algn="r"/>
            <a:r>
              <a:rPr sz="850" b="0">
                <a:solidFill>
                  <a:srgbClr val="877F87"/>
                </a:solidFill>
                <a:latin typeface="Aptos"/>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2447</Words>
  <Application>Microsoft Office PowerPoint</Application>
  <PresentationFormat>Widescreen</PresentationFormat>
  <Paragraphs>279</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Ankit Yadav</cp:lastModifiedBy>
  <cp:revision>2</cp:revision>
  <dcterms:created xsi:type="dcterms:W3CDTF">2013-01-27T09:14:16Z</dcterms:created>
  <dcterms:modified xsi:type="dcterms:W3CDTF">2026-10-01T12:15:17Z</dcterms:modified>
  <cp:category/>
</cp:coreProperties>
</file>